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C9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1" d="100"/>
          <a:sy n="81" d="100"/>
        </p:scale>
        <p:origin x="84" y="1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115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Six weeks in the field, five hundred and sixty eight companies across four emirates. I will show you what that produced, and one finding that changes where the commercial team should spend its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numbers before the detail. The one to hold onto is sixty percent. Excluding one very large outlier account, that is the share of measured diesel volume sitting in companies we ourselves scored Cold.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Map who burns diesel, understand how they buy it, understand the competition, and put FILLIT in front of businesses that had never heard of the name.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in the field. The first three days were desk research and cold calls to learn the business. From then on it was entirely in-person. Week one produced a fifty nine point five percent dead end rate, which told us the supplied list itself was the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hundred and fifty one visits resolved to five hundred and sixty eight companies. One hundred and fifty seven confirmed diesel users, twenty seven point six percent. But another one hundred and ninety four are blocked or unresolved rather than rejected, so the addressable pool is much larger than the green bucket suggests.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three KPI areas set at the start. Outreach volume, lead quality and standard of work, with a plain English definition beside every figure.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one, fifty nine point five percent dead ends and no self generated leads. From week two, when we began finding companies ourselves, the dead end rate fell to between nineteen and thirty percent. Week six rose again because it was mostly revisits and gated sites in Jebel Ali. Counts here are per visit, so a company visited twice appears in both weeks.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dedicated pain point column is sparse, so we text mined every comment across all five hundred and sixty eight companies. Every major pain point appears exclusively alongside companies that actually use diesel.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who decides and how they buy. A hundred and nineteen named fuel buyers, thirteen locked into chip or prepaid cards, thirty five buying from unverified traders, twenty eight driving to a pump. On the right, what they said in their own words. Almost none of it is about price.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companies we simply could not get into. Not one was disqualified. The workbook has a passes required field for exactly this, and it holds just two entries against ninety blocked companies.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Metals converted at sixty five percent. Building and civil contracting took two hundred and nine companies, thirty seven percent of the programme, and returned twenty three percent. Marine and boat building is the one I would watch.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Sajaa returned eighty four point six percent green from thirteen companies. Dubai Industrial City and DIP together returned forty eight percent. Jebel Ali is the opposite: sixty two companies, zero Hot leads, forty blocked at the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territory we actually covered is shown. Four areas to work, one to stop visiting. Business Bay, Jumeirah and Silicon Oasis returned a hundred and two companies and only two Hot leads, because those are registered office districts rather than operating sites.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supplier owns this market. The largest group buys from independent traders, and that is exactly where the quality and trust complaints cluster. And CAFU appears twenty times unprompted, sixteen of those negative.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Excluding one very large outlier, RP Group, sixty percent of measured diesel volume sits in companies we scored Cold. The average Cold company uses about twenty seven and a half thousand litres a month, two point four times a Hot one. Temperature measured who was willing to talk, not who buys the most fuel.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customer problems and the commercial opening each creates. Every row is a named group of companies in the files we are handing over. And not one of these six openings is a price argument.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two qualified companies, named and profiled. I have shown who each one buys from today rather than volume, because that is what tells the sales team how to open the conversation. Full lists are handed over as separate Excel files.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Seventy two leads we found ourselves returned seventy point eight percent green and thirteen point nine percent dead ends. The planned list returned twenty one point four percent green and forty one point seven percent dead.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findings, each with what it means for FILLIT. The demand is real and named. The biggest volumes sit with the slowest buyers. FILLIT wins on service because the price is fixed. CAFU has left the door open. And factories with site equipment are the sweet spot.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recommendations, each with a target. Convert the sixty two qualified leads, launch a site equipment fuelling offer, win CAFU's lost accounts, put the top ten Cold accounts under a key account manager, and reposition FILLIT on service with content behind it.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things that can start this month, the first step for each, and what it is worth. Qualified demand alone is about twenty six million dirhams a year.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plan across sales, marketing and operations. First thirty days win the warm pipeline. Next thirty expand where demand concentrates. Days sixty to ninety make it repeatable, and months four to six scale what converts. Each window has a KPI so progress is measurable.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Alongside the field research I wrote FILLIT a four week LinkedIn plan, post by post. Twenty eight posts, all ten content pillars, thirteen formats. Week one creative is designed and ready. Every post is built on findings from this research, which is what makes it credible rather than generic.</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we did, what got in the way, and how we solved it. Every challenge here turned into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contribution, what I learned, and everything FILLIT keeps. Thank you.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79942-ADA9-D192-18E4-38E32B8B1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487EC-8430-55A9-967B-ACA47E8C1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6D661D-7EAE-B9DE-269F-AC530D11CF99}"/>
              </a:ext>
            </a:extLst>
          </p:cNvPr>
          <p:cNvSpPr>
            <a:spLocks noGrp="1"/>
          </p:cNvSpPr>
          <p:nvPr>
            <p:ph type="body" idx="1"/>
          </p:nvPr>
        </p:nvSpPr>
        <p:spPr/>
        <p:txBody>
          <a:bodyPr/>
          <a:lstStyle/>
          <a:p>
            <a:r>
              <a:rPr lang="en-US" dirty="0"/>
              <a:t>Good morning. Six weeks in the field, five hundred and sixty eight companies across four emirates. I will show you what that produced, and one finding that changes where the commercial team should spend its time.</a:t>
            </a:r>
          </a:p>
        </p:txBody>
      </p:sp>
      <p:sp>
        <p:nvSpPr>
          <p:cNvPr id="4" name="Slide Number Placeholder 3">
            <a:extLst>
              <a:ext uri="{FF2B5EF4-FFF2-40B4-BE49-F238E27FC236}">
                <a16:creationId xmlns:a16="http://schemas.microsoft.com/office/drawing/2014/main" id="{850C1EC3-3926-24EC-9FAA-BE77808FE989}"/>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645267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fillit-market-intelligence.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1drv.ms/x/c/55afda79c07b696a/IQDP0Hk9dZ9gSJQTUNhTvijfARVLGIwDHu0PyBmbejg5ulA?e=pCMf9V" TargetMode="External"/><Relationship Id="rId4" Type="http://schemas.openxmlformats.org/officeDocument/2006/relationships/hyperlink" Target="https://1drv.ms/x/c/55afda79c07b696a/IQC07zRXuxe_SbUDvNYANC3MAX66fUvEZgJ5XRwJkwXMIrc?e=Dbef2Y" TargetMode="External"/><Relationship Id="rId5" Type="http://schemas.openxmlformats.org/officeDocument/2006/relationships/hyperlink" Target="https://1drv.ms/x/c/55afda79c07b696a/IQApcw7LtugLTYa2Dr1jXbVPAd-bsACQ3uIhIxTwVVxUMmM?e=P4NH3z" TargetMode="External"/><Relationship Id="rId6" Type="http://schemas.openxmlformats.org/officeDocument/2006/relationships/hyperlink" Target="https://1drv.ms/x/c/55afda79c07b696a/IQAyc53GG_gGSpWE5tKxeypsAQ2OM_r3nH-_D1b-e40ND2M?e=lHdP0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1drv.ms/x/c/55afda79c07b696a/IQApcw7LtugLTYa2Dr1jXbVPAd-bsACQ3uIhIxTwVVxUMmM?e=P4NH3z" TargetMode="External"/><Relationship Id="rId4" Type="http://schemas.openxmlformats.org/officeDocument/2006/relationships/hyperlink" Target="https://1drv.ms/x/c/55afda79c07b696a/IQBu76_Nnt59S6QA8Rf63gapAT3vfYIXqiPtPyTFKuH-lNs?e=gHz7Sy" TargetMode="External"/><Relationship Id="rId5" Type="http://schemas.openxmlformats.org/officeDocument/2006/relationships/hyperlink" Target="https://1drv.ms/x/c/55afda79c07b696a/IQADGkznTYPFSKleqhwFpAjUATdXpxc73AHInIGNtlg9FRU?e=j02XBq" TargetMode="External"/><Relationship Id="rId6" Type="http://schemas.openxmlformats.org/officeDocument/2006/relationships/hyperlink" Target="https://1drv.ms/x/c/55afda79c07b696a/IQAyIxA13QMvQ7FO6j1WxtrDAdlg5UcY1kOB3iDk8lXkFbM?e=Pctcqp" TargetMode="External"/><Relationship Id="rId7" Type="http://schemas.openxmlformats.org/officeDocument/2006/relationships/hyperlink" Target="https://1drv.ms/x/c/55afda79c07b696a/IQDP0Hk9dZ9gSJQTUNhTvijfARVLGIwDHu0PyBmbejg5ulA?e=pCMf9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1drv.ms/x/c/55afda79c07b696a/IQAyc53GG_gGSpWE5tKxeypsAQ2OM_r3nH-_D1b-e40ND2M?e=lHdP0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fillituae-my.sharepoint.com/:x:/g/personal/tanushree_fillit_co/IQCF60UuVfd-Tp5b-_0comxiASVkp4LiP0xMwoK-2OT0kO8?e=ecUc2O" TargetMode="External"/><Relationship Id="rId4" Type="http://schemas.openxmlformats.org/officeDocument/2006/relationships/hyperlink" Target="https://fillituae-my.sharepoint.com/:x:/g/personal/tanushree_fillit_co/IQBBHSgrZG1sTJPjZQXRMhKpASs8ZLlCiTsCiLt9QtJmY_s?e=oqvhL0" TargetMode="External"/><Relationship Id="rId5" Type="http://schemas.openxmlformats.org/officeDocument/2006/relationships/hyperlink" Target="https://fillituae-my.sharepoint.com/:x:/g/personal/dataanalyst_fillit_co/IQDc4CdHtnUiQZelM-MZSHKsAYrDM9mb6k2MIjWqHCkebX8?e=oKqcYc" TargetMode="External"/><Relationship Id="rId6" Type="http://schemas.openxmlformats.org/officeDocument/2006/relationships/hyperlink" Target="https://fillituae-my.sharepoint.com/:x:/g/personal/dataanalyst_fillit_co/IQASI8PyhLfnT4QAMvusKZTYAdjKq_ZMzs5xN-ByTsmyaNU?e=F4179x"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1drv.ms/x/c/55afda79c07b696a/IQA2sGx-aeXtS4VYVki0qWgEAXg7h-m9MSgPTNLN3nSTgC0?e=QehJJh"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1drv.ms/x/c/55afda79c07b696a/IQAyIxA13QMvQ7FO6j1WxtrDAdlg5UcY1kOB3iDk8lXkFbM?e=Pctcq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1drv.ms/x/c/55afda79c07b696a/IQC07zRXuxe_SbUDvNYANC3MAX66fUvEZgJ5XRwJkwXMIrc?e=Dbef2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1drv.ms/x/c/55afda79c07b696a/IQADGkznTYPFSKleqhwFpAjUATdXpxc73AHInIGNtlg9FRU?e=j02XBq"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1drv.ms/x/c/55afda79c07b696a/IQA2sGx-aeXtS4VYVki0qWgEAXg7h-m9MSgPTNLN3nSTgC0?e=QehJJ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1drv.ms/x/c/55afda79c07b696a/IQApcw7LtugLTYa2Dr1jXbVPAd-bsACQ3uIhIxTwVVxUMmM?e=P4NH3z" TargetMode="External"/><Relationship Id="rId4" Type="http://schemas.openxmlformats.org/officeDocument/2006/relationships/hyperlink" Target="https://1drv.ms/x/c/55afda79c07b696a/IQBu76_Nnt59S6QA8Rf63gapAT3vfYIXqiPtPyTFKuH-lNs?e=gHz7S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hyperlink" Target="https://1drv.ms/x/c/55afda79c07b696a/IQAyc53GG_gGSpWE5tKxeypsAQ2OM_r3nH-_D1b-e40ND2M?e=lHdP0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1drv.ms/w/c/55afda79c07b696a/IQDRxWSgWI43TqRrJA9tlE6TAaGQL3QyVRpZpsn5TE0iSyg?e=dXmkhq"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1drv.ms/w/c/55afda79c07b696a/IQDRxWSgWI43TqRrJA9tlE6TAaGQL3QyVRpZpsn5TE0iSyg?e=dXmkhq"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1drv.ms/f/c/55afda79c07b696a/IgAcULwvUJntSoDd9576JXRgAWX_jYdFzfv8YG1P5He4FLM?e=h01hg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126"/>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1E2C"/>
          </a:solidFill>
          <a:ln/>
        </p:spPr>
        <p:txBody>
          <a:bodyPr/>
          <a:p/>
        </p:txBody>
      </p:sp>
      <p:sp>
        <p:nvSpPr>
          <p:cNvPr id="3" name="Text 1"/>
          <p:cNvSpPr txBox="1"/>
          <p:nvPr/>
        </p:nvSpPr>
        <p:spPr>
          <a:xfrm>
            <a:off x="960120" y="1417320"/>
            <a:ext cx="8229600" cy="274320"/>
          </a:xfrm>
          <a:prstGeom prst="rect">
            <a:avLst/>
          </a:prstGeom>
          <a:noFill/>
          <a:ln/>
        </p:spPr>
        <p:txBody>
          <a:bodyPr wrap="square" lIns="0" tIns="0" rIns="0" bIns="0" rtlCol="0" anchor="ctr"/>
          <a:lstStyle/>
          <a:p>
            <a:r>
              <a:rPr lang="en-US" sz="1150" b="1" kern="0" spc="220" dirty="0">
                <a:solidFill>
                  <a:srgbClr val="E8C9CE"/>
                </a:solidFill>
                <a:latin typeface="Inter" pitchFamily="34" charset="0"/>
                <a:ea typeface="Inter" pitchFamily="34" charset="-122"/>
                <a:cs typeface="Inter" pitchFamily="34" charset="-120"/>
              </a:rPr>
              <a:t>MARKET RESEARCH INTERNSHIP   ·   Final Presentation   ·    </a:t>
            </a:r>
            <a:r>
              <a:rPr lang="en-US" sz="1150" b="1" kern="0" spc="220" dirty="0">
                <a:solidFill>
                  <a:srgbClr val="E8C9CE"/>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Dashboard</a:t>
            </a:r>
            <a:r>
              <a:rPr lang="en-US" sz="1150" b="1" kern="0" spc="220" dirty="0">
                <a:solidFill>
                  <a:srgbClr val="E8C9CE"/>
                </a:solidFill>
                <a:latin typeface="Inter" pitchFamily="34" charset="0"/>
                <a:ea typeface="Inter" pitchFamily="34" charset="-122"/>
                <a:cs typeface="Inter" pitchFamily="34" charset="-120"/>
              </a:rPr>
              <a:t> </a:t>
            </a:r>
            <a:endParaRPr lang="en-US" sz="1150" dirty="0"/>
          </a:p>
        </p:txBody>
      </p:sp>
      <p:sp>
        <p:nvSpPr>
          <p:cNvPr id="4" name="Text 2"/>
          <p:cNvSpPr txBox="1"/>
          <p:nvPr/>
        </p:nvSpPr>
        <p:spPr>
          <a:xfrm>
            <a:off x="960119" y="1874519"/>
            <a:ext cx="9500301" cy="2421583"/>
          </a:xfrm>
          <a:prstGeom prst="rect">
            <a:avLst/>
          </a:prstGeom>
          <a:noFill/>
          <a:ln/>
        </p:spPr>
        <p:txBody>
          <a:bodyPr wrap="square" lIns="0" tIns="0" rIns="0" bIns="0" rtlCol="0" anchor="ctr"/>
          <a:lstStyle/>
          <a:p>
            <a:pPr marL="0" indent="0">
              <a:lnSpc>
                <a:spcPts val="5400"/>
              </a:lnSpc>
              <a:buNone/>
            </a:pPr>
            <a:r>
              <a:rPr lang="en-US" sz="4400" b="1" dirty="0">
                <a:solidFill>
                  <a:srgbClr val="FFFFFF"/>
                </a:solidFill>
                <a:latin typeface="Archivo" pitchFamily="34" charset="0"/>
                <a:ea typeface="Archivo" pitchFamily="34" charset="-122"/>
                <a:cs typeface="Archivo" pitchFamily="34" charset="-120"/>
              </a:rPr>
              <a:t>636 companies.
Seven weeks.
Key Learning / Insights</a:t>
            </a:r>
            <a:endParaRPr lang="en-US" sz="4400" dirty="0"/>
          </a:p>
        </p:txBody>
      </p:sp>
      <p:sp>
        <p:nvSpPr>
          <p:cNvPr id="14" name="Text 12"/>
          <p:cNvSpPr txBox="1"/>
          <p:nvPr/>
        </p:nvSpPr>
        <p:spPr>
          <a:xfrm>
            <a:off x="960118" y="4642630"/>
            <a:ext cx="8041991" cy="798050"/>
          </a:xfrm>
          <a:prstGeom prst="rect">
            <a:avLst/>
          </a:prstGeom>
          <a:noFill/>
          <a:ln/>
        </p:spPr>
        <p:txBody>
          <a:bodyPr wrap="square" lIns="0" tIns="0" rIns="0" bIns="0" rtlCol="0" anchor="ctr"/>
          <a:lstStyle/>
          <a:p>
            <a:pPr marL="0" indent="0">
              <a:buNone/>
            </a:pPr>
            <a:r>
              <a:rPr lang="en-US" sz="2400" b="1" dirty="0">
                <a:solidFill>
                  <a:srgbClr val="FFFFFF"/>
                </a:solidFill>
                <a:latin typeface="Archivo" pitchFamily="34" charset="0"/>
                <a:ea typeface="Archivo" pitchFamily="34" charset="-122"/>
                <a:cs typeface="Archivo" pitchFamily="34" charset="-120"/>
              </a:rPr>
              <a:t>Divesh Anand</a:t>
            </a:r>
            <a:endParaRPr lang="en-US" sz="2400" dirty="0"/>
          </a:p>
        </p:txBody>
      </p:sp>
      <p:sp>
        <p:nvSpPr>
          <p:cNvPr id="15" name="Text 13"/>
          <p:cNvSpPr txBox="1"/>
          <p:nvPr/>
        </p:nvSpPr>
        <p:spPr>
          <a:xfrm>
            <a:off x="960118" y="5372888"/>
            <a:ext cx="9555482" cy="610126"/>
          </a:xfrm>
          <a:prstGeom prst="rect">
            <a:avLst/>
          </a:prstGeom>
          <a:noFill/>
          <a:ln/>
        </p:spPr>
        <p:txBody>
          <a:bodyPr wrap="square" lIns="0" tIns="0" rIns="0" bIns="0" rtlCol="0" anchor="ctr"/>
          <a:lstStyle/>
          <a:p>
            <a:pPr marL="0" indent="0">
              <a:buNone/>
            </a:pPr>
            <a:r>
              <a:rPr lang="en-US" sz="1150" dirty="0">
                <a:solidFill>
                  <a:srgbClr val="8F8783"/>
                </a:solidFill>
                <a:latin typeface="Inter" pitchFamily="34" charset="0"/>
                <a:ea typeface="Inter" pitchFamily="34" charset="-122"/>
                <a:cs typeface="Inter" pitchFamily="34" charset="-120"/>
              </a:rPr>
              <a:t>Market Research Intern   ·   Team Vision Crafters   ·   FILLIT Diesel Trading LLC</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EXECUTIVE SUMMARY</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Eight numbers that describe seven weeks.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Every figure is derived directly from the field workbook. No external data has been added.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84796283"/>
              </p:ext>
            </p:extLst>
          </p:nvPr>
        </p:nvGraphicFramePr>
        <p:xfrm>
          <a:off x="502920" y="1956816"/>
          <a:ext cx="11183112" cy="3291840"/>
        </p:xfrm>
        <a:graphic>
          <a:graphicData uri="http://schemas.openxmlformats.org/drawingml/2006/table">
            <a:tbl>
              <a:tblPr/>
              <a:tblGrid>
                <a:gridCol w="10058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5056632">
                  <a:extLst>
                    <a:ext uri="{9D8B030D-6E8A-4147-A177-3AD203B41FA5}">
                      <a16:colId xmlns:a16="http://schemas.microsoft.com/office/drawing/2014/main" val="20003"/>
                    </a:ext>
                  </a:extLst>
                </a:gridCol>
              </a:tblGrid>
              <a:tr h="658368">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Figure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it is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Figure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it is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658368">
                <a:tc>
                  <a:txBody>
                    <a:bodyPr/>
                    <a:lstStyle/>
                    <a:p>
                      <a:pPr marL="0" indent="0" algn="ctr">
                        <a:buNone/>
                      </a:pPr>
                      <a:r>
                        <a:rPr lang="en-US" sz="1700" b="1" dirty="0">
                          <a:solidFill>
                            <a:schemeClr val="tx1"/>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636</a:t>
                      </a:r>
                      <a:endParaRPr lang="en-US" sz="1700" b="1"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companies visited, from 743 field visits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700" b="1" dirty="0">
                          <a:solidFill>
                            <a:schemeClr val="tx1"/>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20</a:t>
                      </a:r>
                      <a:endParaRPr lang="en-US" sz="170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companies named CAFU unprompted, 16 of them negatively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lgn="ctr">
                        <a:buNone/>
                      </a:pPr>
                      <a:r>
                        <a:rPr lang="en-US" sz="1700" b="1" dirty="0">
                          <a:solidFill>
                            <a:srgbClr val="2E7D4F"/>
                          </a:solidFill>
                          <a:latin typeface="Inter" pitchFamily="34" charset="0"/>
                          <a:ea typeface="Inter" pitchFamily="34" charset="-122"/>
                          <a:cs typeface="Inter" pitchFamily="34" charset="-120"/>
                        </a:rPr>
                        <a:t>182</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confirmed diesel users, 28.6% of the book</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700" b="1" dirty="0">
                          <a:solidFill>
                            <a:srgbClr val="C91E2C"/>
                          </a:solidFill>
                          <a:latin typeface="Inter" pitchFamily="34" charset="0"/>
                          <a:ea typeface="Inter" pitchFamily="34" charset="-122"/>
                          <a:cs typeface="Inter" pitchFamily="34" charset="-120"/>
                        </a:rPr>
                        <a:t>58%</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of measured volume sits in Cold companies, excluding one outlier account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lgn="ctr">
                        <a:buNone/>
                      </a:pPr>
                      <a:r>
                        <a:rPr lang="en-US" sz="1700" b="1" dirty="0">
                          <a:solidFill>
                            <a:srgbClr val="B8891F"/>
                          </a:solidFill>
                          <a:latin typeface="Inter" pitchFamily="34" charset="0"/>
                          <a:ea typeface="Inter" pitchFamily="34" charset="-122"/>
                          <a:cs typeface="Inter" pitchFamily="34" charset="-120"/>
                        </a:rPr>
                        <a:t>210</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more companies blocked or unresolved, not rejected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700" b="1" dirty="0">
                          <a:solidFill>
                            <a:srgbClr val="00B050"/>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27</a:t>
                      </a:r>
                      <a:endParaRPr lang="en-US" sz="1700" dirty="0">
                        <a:solidFill>
                          <a:srgbClr val="00B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Hot leads who asked for a quote, sample or visit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lgn="ctr">
                        <a:buNone/>
                      </a:pPr>
                      <a:r>
                        <a:rPr lang="en-US" sz="1700" b="1" dirty="0">
                          <a:solidFill>
                            <a:srgbClr val="00B050"/>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136</a:t>
                      </a:r>
                      <a:endParaRPr lang="en-US" sz="1700" dirty="0">
                        <a:solidFill>
                          <a:srgbClr val="00B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leads we generated ourselves, 65.4% of them green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700" b="1" dirty="0">
                          <a:solidFill>
                            <a:srgbClr val="41616F"/>
                          </a:solidFill>
                          <a:latin typeface="Inter" pitchFamily="34" charset="0"/>
                          <a:ea typeface="Inter" pitchFamily="34" charset="-122"/>
                          <a:cs typeface="Inter" pitchFamily="34" charset="-120"/>
                        </a:rPr>
                        <a:t>125</a:t>
                      </a:r>
                      <a:endParaRPr lang="en-US" sz="17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closed records caused by a wrong address, not absent demand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C91E2C"/>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The uncomfortable one is 58%. The average Cold company uses 2.1 times the diesel of a Hot one.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THE BRIEF</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Find out who buys diesel in the UAE, and how.</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3112" cy="3108960"/>
        </p:xfrm>
        <a:graphic>
          <a:graphicData uri="http://schemas.openxmlformats.org/drawingml/2006/table">
            <a:tbl>
              <a:tblPr/>
              <a:tblGrid>
                <a:gridCol w="640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7616952">
                  <a:extLst>
                    <a:ext uri="{9D8B030D-6E8A-4147-A177-3AD203B41FA5}">
                      <a16:colId xmlns:a16="http://schemas.microsoft.com/office/drawing/2014/main" val="20002"/>
                    </a:ext>
                  </a:extLst>
                </a:gridCol>
              </a:tblGrid>
              <a:tr h="621792">
                <a:tc>
                  <a:txBody>
                    <a:bodyPr/>
                    <a:lstStyle/>
                    <a:p>
                      <a:pPr marL="0" indent="0" algn="l">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Objective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that meant in practice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621792">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Map the market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Identify businesses that consume diesel across the UAE and record how much they use.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Understand how they buy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Current supplier, pain points, decision maker and buying behaviour.</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Map the competition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Who serves this market today, and where the gaps are.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Build awareness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Introduce FILLIT to businesses that had never heard of the name.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502920" y="4892040"/>
            <a:ext cx="11185855" cy="868680"/>
          </a:xfrm>
          <a:prstGeom prst="rect">
            <a:avLst/>
          </a:prstGeom>
          <a:noFill/>
          <a:ln/>
        </p:spPr>
        <p:txBody>
          <a:bodyPr wrap="square" lIns="0" tIns="0" rIns="0" bIns="0" rtlCol="0" anchor="ctr"/>
          <a:lstStyle/>
          <a:p>
            <a:pPr marL="0" indent="0">
              <a:lnSpc>
                <a:spcPts val="2000"/>
              </a:lnSpc>
              <a:buNone/>
            </a:pPr>
            <a:r>
              <a:rPr lang="en-US" sz="1250" dirty="0">
                <a:solidFill>
                  <a:srgbClr val="3D4650"/>
                </a:solidFill>
                <a:latin typeface="Inter" pitchFamily="34" charset="0"/>
                <a:ea typeface="Inter" pitchFamily="34" charset="-122"/>
                <a:cs typeface="Inter" pitchFamily="34" charset="-120"/>
              </a:rPr>
              <a:t>FILLIT delivers diesel on demand across the UAE, from 100 litres to 5 million, at a certified 10ppm specification, with GPS tracking and 24/7 dispatch. Its buyers are fleet and plant managers, site and project managers, marine operators and procurement leads.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HOW THE RESEARCH WAS DONE</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Three days at a desk, then seven weeks on the road.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We began with desk research and cold calls for the first three days only, then moved entirely to in-person field visits.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141333025"/>
              </p:ext>
            </p:extLst>
          </p:nvPr>
        </p:nvGraphicFramePr>
        <p:xfrm>
          <a:off x="502920" y="1956816"/>
          <a:ext cx="11185855" cy="3364992"/>
        </p:xfrm>
        <a:graphic>
          <a:graphicData uri="http://schemas.openxmlformats.org/drawingml/2006/table">
            <a:tbl>
              <a:tblPr/>
              <a:tblGrid>
                <a:gridCol w="1225963">
                  <a:extLst>
                    <a:ext uri="{9D8B030D-6E8A-4147-A177-3AD203B41FA5}">
                      <a16:colId xmlns:a16="http://schemas.microsoft.com/office/drawing/2014/main" val="20000"/>
                    </a:ext>
                  </a:extLst>
                </a:gridCol>
                <a:gridCol w="5411146">
                  <a:extLst>
                    <a:ext uri="{9D8B030D-6E8A-4147-A177-3AD203B41FA5}">
                      <a16:colId xmlns:a16="http://schemas.microsoft.com/office/drawing/2014/main" val="20001"/>
                    </a:ext>
                  </a:extLst>
                </a:gridCol>
                <a:gridCol w="4548746">
                  <a:extLst>
                    <a:ext uri="{9D8B030D-6E8A-4147-A177-3AD203B41FA5}">
                      <a16:colId xmlns:a16="http://schemas.microsoft.com/office/drawing/2014/main" val="20002"/>
                    </a:ext>
                  </a:extLst>
                </a:gridCol>
              </a:tblGrid>
              <a:tr h="84124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Phase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we did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it told 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841248">
                <a:tc>
                  <a:txBody>
                    <a:bodyPr/>
                    <a:lstStyle/>
                    <a:p>
                      <a:pPr marL="0" indent="0">
                        <a:buNone/>
                      </a:pPr>
                      <a:r>
                        <a:rPr lang="en-US" sz="1100" b="1" dirty="0">
                          <a:solidFill>
                            <a:srgbClr val="C91E2C"/>
                          </a:solidFill>
                          <a:latin typeface="Inter" pitchFamily="34" charset="0"/>
                          <a:ea typeface="Inter" pitchFamily="34" charset="-122"/>
                          <a:cs typeface="Inter" pitchFamily="34" charset="-120"/>
                        </a:rPr>
                        <a:t>First 3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Desk research. Company websites, LinkedIn pages and trade directories to build a picture of who burns diesel in the UAE.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Gave us a starting prospect list and a working vocabulary for the industry.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841248">
                <a:tc>
                  <a:txBody>
                    <a:bodyPr/>
                    <a:lstStyle/>
                    <a:p>
                      <a:pPr marL="0" indent="0">
                        <a:buNone/>
                      </a:pPr>
                      <a:r>
                        <a:rPr lang="en-US" sz="1100" b="1" dirty="0">
                          <a:solidFill>
                            <a:srgbClr val="C91E2C"/>
                          </a:solidFill>
                          <a:latin typeface="Inter" pitchFamily="34" charset="0"/>
                          <a:ea typeface="Inter" pitchFamily="34" charset="-122"/>
                          <a:cs typeface="Inter" pitchFamily="34" charset="-120"/>
                        </a:rPr>
                        <a:t>First 3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Cold calls. Phone outreach to test the pitch and learn the objections before going door to door.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Taught us which questions actually get answered on a first contact.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841248">
                <a:tc>
                  <a:txBody>
                    <a:bodyPr/>
                    <a:lstStyle/>
                    <a:p>
                      <a:pPr marL="0" indent="0">
                        <a:buNone/>
                      </a:pPr>
                      <a:r>
                        <a:rPr lang="en-US" sz="1100" b="1" dirty="0">
                          <a:solidFill>
                            <a:srgbClr val="2E7D4F"/>
                          </a:solidFill>
                          <a:latin typeface="Inter" pitchFamily="34" charset="0"/>
                          <a:ea typeface="Inter" pitchFamily="34" charset="-122"/>
                          <a:cs typeface="Inter" pitchFamily="34" charset="-120"/>
                        </a:rPr>
                        <a:t>Weeks 1 to 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743 in-person field visits. Turn up, ask for the fuel buyer, run the questions, log  it the same day.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Produced the entire dataset behind this presentation.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 4"/>
          <p:cNvSpPr txBox="1"/>
          <p:nvPr/>
        </p:nvSpPr>
        <p:spPr>
          <a:xfrm>
            <a:off x="502920" y="5596128"/>
            <a:ext cx="11185855" cy="38404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The first five questions, every time:   Who supplies you today?   ·   How much do you use?   ·   What burns it?   ·   What goes wrong?   ·   Who decides?</a:t>
            </a:r>
            <a:endParaRPr lang="en-US" sz="1200" dirty="0"/>
          </a:p>
        </p:txBody>
      </p:sp>
      <p:sp>
        <p:nvSpPr>
          <p:cNvPr id="8" name="Shape 5"/>
          <p:cNvSpPr/>
          <p:nvPr/>
        </p:nvSpPr>
        <p:spPr>
          <a:xfrm>
            <a:off x="502920" y="6144768"/>
            <a:ext cx="11185855" cy="475488"/>
          </a:xfrm>
          <a:prstGeom prst="rect">
            <a:avLst/>
          </a:prstGeom>
          <a:solidFill>
            <a:srgbClr val="FCF3F4"/>
          </a:solidFill>
          <a:ln/>
        </p:spPr>
        <p:txBody>
          <a:bodyPr/>
          <a:p/>
        </p:txBody>
      </p:sp>
      <p:sp>
        <p:nvSpPr>
          <p:cNvPr id="9" name="Shape 6"/>
          <p:cNvSpPr/>
          <p:nvPr/>
        </p:nvSpPr>
        <p:spPr>
          <a:xfrm>
            <a:off x="502920" y="6144768"/>
            <a:ext cx="50292" cy="475488"/>
          </a:xfrm>
          <a:prstGeom prst="rect">
            <a:avLst/>
          </a:prstGeom>
          <a:solidFill>
            <a:srgbClr val="C91E2C"/>
          </a:solidFill>
          <a:ln/>
        </p:spPr>
        <p:txBody>
          <a:bodyPr/>
          <a:p/>
        </p:txBody>
      </p:sp>
      <p:sp>
        <p:nvSpPr>
          <p:cNvPr id="10" name="Text 7"/>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Week 1 in the field returned a 59.5% dead-end rate even with 22 self-generated leads already in the mix. That told us the prospect list itself needed replacing.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THE MARKET WE MAPPED</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75979"/>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636 companies, every one classified.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743 field visits resolved to 636 unique companies. Each is shown at its latest status; where colour and written interest level differed, interest level was used.</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98377019"/>
              </p:ext>
            </p:extLst>
          </p:nvPr>
        </p:nvGraphicFramePr>
        <p:xfrm>
          <a:off x="502920" y="1956816"/>
          <a:ext cx="10820095" cy="3877056"/>
        </p:xfrm>
        <a:graphic>
          <a:graphicData uri="http://schemas.openxmlformats.org/drawingml/2006/table">
            <a:tbl>
              <a:tblPr/>
              <a:tblGrid>
                <a:gridCol w="1636727">
                  <a:extLst>
                    <a:ext uri="{9D8B030D-6E8A-4147-A177-3AD203B41FA5}">
                      <a16:colId xmlns:a16="http://schemas.microsoft.com/office/drawing/2014/main" val="20000"/>
                    </a:ext>
                  </a:extLst>
                </a:gridCol>
                <a:gridCol w="1150133">
                  <a:extLst>
                    <a:ext uri="{9D8B030D-6E8A-4147-A177-3AD203B41FA5}">
                      <a16:colId xmlns:a16="http://schemas.microsoft.com/office/drawing/2014/main" val="20001"/>
                    </a:ext>
                  </a:extLst>
                </a:gridCol>
                <a:gridCol w="973189">
                  <a:extLst>
                    <a:ext uri="{9D8B030D-6E8A-4147-A177-3AD203B41FA5}">
                      <a16:colId xmlns:a16="http://schemas.microsoft.com/office/drawing/2014/main" val="20002"/>
                    </a:ext>
                  </a:extLst>
                </a:gridCol>
                <a:gridCol w="7060046">
                  <a:extLst>
                    <a:ext uri="{9D8B030D-6E8A-4147-A177-3AD203B41FA5}">
                      <a16:colId xmlns:a16="http://schemas.microsoft.com/office/drawing/2014/main" val="20003"/>
                    </a:ext>
                  </a:extLst>
                </a:gridCol>
              </a:tblGrid>
              <a:tr h="484632">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Status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Share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it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84632">
                <a:tc>
                  <a:txBody>
                    <a:bodyPr/>
                    <a:lstStyle/>
                    <a:p>
                      <a:pPr marL="0" indent="0">
                        <a:buNone/>
                      </a:pPr>
                      <a:r>
                        <a:rPr lang="en-US" sz="1150" b="1" dirty="0">
                          <a:solidFill>
                            <a:srgbClr val="00B050"/>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Hot</a:t>
                      </a:r>
                      <a:endParaRPr lang="en-US" sz="1150" dirty="0">
                        <a:solidFill>
                          <a:srgbClr val="00B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27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Using diesel, high intent. Asked for a quote, sample or visit.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84632">
                <a:tc>
                  <a:txBody>
                    <a:bodyPr/>
                    <a:lstStyle/>
                    <a:p>
                      <a:pPr marL="0" indent="0">
                        <a:buNone/>
                      </a:pPr>
                      <a:r>
                        <a:rPr lang="en-US" sz="1150" b="1" dirty="0">
                          <a:solidFill>
                            <a:srgbClr val="92D050"/>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Warm</a:t>
                      </a:r>
                      <a:endParaRPr lang="en-US" sz="1150" dirty="0">
                        <a:solidFill>
                          <a:srgbClr val="92D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45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7.1%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Using diesel, interested, needs a follow-up.</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84632">
                <a:tc>
                  <a:txBody>
                    <a:bodyPr/>
                    <a:lstStyle/>
                    <a:p>
                      <a:pPr marL="0" indent="0">
                        <a:buNone/>
                      </a:pPr>
                      <a:r>
                        <a:rPr lang="en-US" sz="1150" b="1" dirty="0">
                          <a:solidFill>
                            <a:srgbClr val="6E7F5E"/>
                          </a:solidFill>
                          <a:latin typeface="Inter" pitchFamily="34" charset="0"/>
                          <a:ea typeface="Inter" pitchFamily="34" charset="-122"/>
                          <a:cs typeface="Inter" pitchFamily="34" charset="-120"/>
                          <a:hlinkClick r:id="rId5"/>
                        </a:rPr>
                        <a:t>Cold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110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17.3%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Confirmed diesel user, not ready to switch. A nurture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84632">
                <a:tc>
                  <a:txBody>
                    <a:bodyPr/>
                    <a:lstStyle/>
                    <a:p>
                      <a:pPr marL="0" indent="0">
                        <a:buNone/>
                      </a:pPr>
                      <a:r>
                        <a:rPr lang="en-US" sz="1150" b="1" dirty="0">
                          <a:solidFill>
                            <a:srgbClr val="FFC000"/>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Appointment</a:t>
                      </a:r>
                      <a:endParaRPr lang="en-US" sz="1150" dirty="0">
                        <a:solidFill>
                          <a:srgbClr val="FFC00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15.7%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Could not get in. Free zone, permit or gate pass needed.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484632">
                <a:tc>
                  <a:txBody>
                    <a:bodyPr/>
                    <a:lstStyle/>
                    <a:p>
                      <a:pPr marL="0" indent="0">
                        <a:buNone/>
                      </a:pPr>
                      <a:r>
                        <a:rPr lang="en-US" sz="1150" b="1" dirty="0">
                          <a:solidFill>
                            <a:schemeClr val="accent2"/>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Revisit</a:t>
                      </a:r>
                      <a:endParaRPr lang="en-US" sz="1150" dirty="0">
                        <a:solidFill>
                          <a:schemeClr val="accent2"/>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110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17.3%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Unresolved. The process stopped; the company did not.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484632">
                <a:tc>
                  <a:txBody>
                    <a:bodyPr/>
                    <a:lstStyle/>
                    <a:p>
                      <a:pPr marL="0" indent="0">
                        <a:buNone/>
                      </a:pPr>
                      <a:r>
                        <a:rPr lang="en-US" sz="1150" b="1" dirty="0">
                          <a:solidFill>
                            <a:srgbClr val="B33A3A"/>
                          </a:solidFill>
                          <a:latin typeface="Inter" pitchFamily="34" charset="0"/>
                          <a:ea typeface="Inter" pitchFamily="34" charset="-122"/>
                          <a:cs typeface="Inter" pitchFamily="34" charset="-120"/>
                        </a:rPr>
                        <a:t>Invalid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244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38.4%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Disqualified. Mostly a wrong address rather than no demand.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484632">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Total</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636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182 confirmed diesel users. 210 more blocked or unresolved.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7"/>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The addressable pool is not 182. Another 210 companies are blocked or unresolved, not rejected.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THE THREE THINGS WE WERE MEASURED ON</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Our targets, and what each number means.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Set at the start of the internship. A plain English definition sits beside every figure.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927128334"/>
              </p:ext>
            </p:extLst>
          </p:nvPr>
        </p:nvGraphicFramePr>
        <p:xfrm>
          <a:off x="502920" y="1956816"/>
          <a:ext cx="11183112" cy="4023360"/>
        </p:xfrm>
        <a:graphic>
          <a:graphicData uri="http://schemas.openxmlformats.org/drawingml/2006/table">
            <a:tbl>
              <a:tblPr/>
              <a:tblGrid>
                <a:gridCol w="1828801">
                  <a:extLst>
                    <a:ext uri="{9D8B030D-6E8A-4147-A177-3AD203B41FA5}">
                      <a16:colId xmlns:a16="http://schemas.microsoft.com/office/drawing/2014/main" val="20000"/>
                    </a:ext>
                  </a:extLst>
                </a:gridCol>
                <a:gridCol w="2651759">
                  <a:extLst>
                    <a:ext uri="{9D8B030D-6E8A-4147-A177-3AD203B41FA5}">
                      <a16:colId xmlns:a16="http://schemas.microsoft.com/office/drawing/2014/main" val="20001"/>
                    </a:ext>
                  </a:extLst>
                </a:gridCol>
                <a:gridCol w="2111003">
                  <a:extLst>
                    <a:ext uri="{9D8B030D-6E8A-4147-A177-3AD203B41FA5}">
                      <a16:colId xmlns:a16="http://schemas.microsoft.com/office/drawing/2014/main" val="20002"/>
                    </a:ext>
                  </a:extLst>
                </a:gridCol>
                <a:gridCol w="4591549">
                  <a:extLst>
                    <a:ext uri="{9D8B030D-6E8A-4147-A177-3AD203B41FA5}">
                      <a16:colId xmlns:a16="http://schemas.microsoft.com/office/drawing/2014/main" val="20003"/>
                    </a:ext>
                  </a:extLst>
                </a:gridCol>
              </a:tblGrid>
              <a:tr h="402336">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KPI 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Measure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Result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it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02336">
                <a:tc>
                  <a:txBody>
                    <a:bodyPr/>
                    <a:lstStyle/>
                    <a:p>
                      <a:pPr marL="0" indent="0">
                        <a:buNone/>
                      </a:pPr>
                      <a:r>
                        <a:rPr lang="en-US" sz="1100" b="1" dirty="0">
                          <a:solidFill>
                            <a:srgbClr val="242126"/>
                          </a:solidFill>
                          <a:latin typeface="Inter" pitchFamily="34" charset="0"/>
                          <a:ea typeface="Inter" pitchFamily="34" charset="-122"/>
                          <a:cs typeface="Inter" pitchFamily="34" charset="-120"/>
                        </a:rPr>
                        <a:t>Outreach volume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Companies contacted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636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Separate businesses reached. Each counted once.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1"/>
                  </a:ext>
                </a:extLst>
              </a:tr>
              <a:tr h="402336">
                <a:tc>
                  <a:txBody>
                    <a:bodyPr/>
                    <a:lstStyle/>
                    <a:p>
                      <a:pPr marL="0" indent="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Field visits made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743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Total visits, including return trips.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Emirates covered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Dubai, Sharjah, Ajman and Umm Al Quwain.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100" b="1" dirty="0">
                          <a:solidFill>
                            <a:srgbClr val="242126"/>
                          </a:solidFill>
                          <a:latin typeface="Inter" pitchFamily="34" charset="0"/>
                          <a:ea typeface="Inter" pitchFamily="34" charset="-122"/>
                          <a:cs typeface="Inter" pitchFamily="34" charset="-120"/>
                        </a:rPr>
                        <a:t>Lead quality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Confirmed diesel users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182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Companies that actually burn diesel. 28.6% of the book.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4"/>
                  </a:ext>
                </a:extLst>
              </a:tr>
              <a:tr h="402336">
                <a:tc>
                  <a:txBody>
                    <a:bodyPr/>
                    <a:lstStyle/>
                    <a:p>
                      <a:pPr marL="0" indent="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Fuel buyers named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146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The person who decides, with contact details.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402336">
                <a:tc>
                  <a:txBody>
                    <a:bodyPr/>
                    <a:lstStyle/>
                    <a:p>
                      <a:pPr marL="0" indent="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chemeClr val="tx1"/>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New leads generated</a:t>
                      </a:r>
                      <a:endParaRPr lang="en-US" sz="1100" b="1"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136 (across all seven weeks)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Companies on no list. 65.4% of them turned green.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402336">
                <a:tc>
                  <a:txBody>
                    <a:bodyPr/>
                    <a:lstStyle/>
                    <a:p>
                      <a:pPr marL="0" indent="0">
                        <a:buNone/>
                      </a:pPr>
                      <a:r>
                        <a:rPr lang="en-US" sz="1100" b="1" dirty="0">
                          <a:solidFill>
                            <a:srgbClr val="242126"/>
                          </a:solidFill>
                          <a:latin typeface="Inter" pitchFamily="34" charset="0"/>
                          <a:ea typeface="Inter" pitchFamily="34" charset="-122"/>
                          <a:cs typeface="Inter" pitchFamily="34" charset="-120"/>
                        </a:rPr>
                        <a:t>Standard of work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Companies classified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636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Every one given a final status. None left blank.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7"/>
                  </a:ext>
                </a:extLst>
              </a:tr>
              <a:tr h="402336">
                <a:tc>
                  <a:txBody>
                    <a:bodyPr/>
                    <a:lstStyle/>
                    <a:p>
                      <a:pPr marL="0" indent="0">
                        <a:buNone/>
                      </a:pP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Weeks delivered on time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7 of 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Every weekly sheet consolidated on schedule.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136 new leads was a target in its own right, and those leads turned green 3.5 times more often.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WEEKLY PROGRESS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Week 1 taught us to stop working the list.</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Week 1 produced a 59.5% dead-end rate even with 22 self-generated leads already running. By Week 4 it had fallen to 18.8%.</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3110152940"/>
              </p:ext>
            </p:extLst>
          </p:nvPr>
        </p:nvGraphicFramePr>
        <p:xfrm>
          <a:off x="502920" y="1956816"/>
          <a:ext cx="11183112" cy="3657600"/>
        </p:xfrm>
        <a:graphic>
          <a:graphicData uri="http://schemas.openxmlformats.org/drawingml/2006/table">
            <a:tbl>
              <a:tblPr/>
              <a:tblGrid>
                <a:gridCol w="14630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874520">
                  <a:extLst>
                    <a:ext uri="{9D8B030D-6E8A-4147-A177-3AD203B41FA5}">
                      <a16:colId xmlns:a16="http://schemas.microsoft.com/office/drawing/2014/main" val="20006"/>
                    </a:ext>
                  </a:extLst>
                </a:gridCol>
                <a:gridCol w="2221992">
                  <a:extLst>
                    <a:ext uri="{9D8B030D-6E8A-4147-A177-3AD203B41FA5}">
                      <a16:colId xmlns:a16="http://schemas.microsoft.com/office/drawing/2014/main" val="20007"/>
                    </a:ext>
                  </a:extLst>
                </a:gridCol>
              </a:tblGrid>
              <a:tr h="45720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Week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Visits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Dead-end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New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Week 1</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121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B33A3A"/>
                          </a:solidFill>
                          <a:latin typeface="Inter" pitchFamily="34" charset="0"/>
                          <a:ea typeface="Inter" pitchFamily="34" charset="-122"/>
                          <a:cs typeface="Inter" pitchFamily="34" charset="-120"/>
                        </a:rPr>
                        <a:t>13.2%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B33A3A"/>
                          </a:solidFill>
                          <a:latin typeface="Inter" pitchFamily="34" charset="0"/>
                          <a:ea typeface="Inter" pitchFamily="34" charset="-122"/>
                          <a:cs typeface="Inter" pitchFamily="34" charset="-120"/>
                        </a:rPr>
                        <a:t>59.5%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22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Week 2</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120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37.5%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30.0%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15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Week 3</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31.2%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30.2%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18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Week 4</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96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27.1%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18.8%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19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Week 5</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16.4%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19.8%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E7D4F"/>
                          </a:solidFill>
                          <a:latin typeface="Inter" pitchFamily="34" charset="0"/>
                          <a:ea typeface="Inter" pitchFamily="34" charset="-122"/>
                          <a:cs typeface="Inter" pitchFamily="34" charset="-120"/>
                        </a:rPr>
                        <a:t>20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Week 6</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102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21.6%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B33A3A"/>
                          </a:solidFill>
                          <a:latin typeface="Inter" pitchFamily="34" charset="0"/>
                          <a:ea typeface="Inter" pitchFamily="34" charset="-122"/>
                          <a:cs typeface="Inter" pitchFamily="34" charset="-120"/>
                        </a:rPr>
                        <a:t>46.1%</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15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Week 7</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92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29.3%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B33A3A"/>
                          </a:solidFill>
                          <a:latin typeface="Inter" pitchFamily="34" charset="0"/>
                          <a:ea typeface="Inter" pitchFamily="34" charset="-122"/>
                          <a:cs typeface="Inter" pitchFamily="34" charset="-120"/>
                        </a:rPr>
                        <a:t>29.3%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3D4650"/>
                          </a:solidFill>
                          <a:latin typeface="Inter" pitchFamily="34" charset="0"/>
                          <a:ea typeface="Inter" pitchFamily="34" charset="-122"/>
                          <a:cs typeface="Inter" pitchFamily="34" charset="-120"/>
                        </a:rPr>
                        <a:t>27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150" b="1" dirty="0">
                          <a:solidFill>
                            <a:srgbClr val="242126"/>
                          </a:solidFill>
                          <a:latin typeface="Inter" pitchFamily="34" charset="0"/>
                          <a:ea typeface="Inter" pitchFamily="34" charset="-122"/>
                          <a:cs typeface="Inter" pitchFamily="34" charset="-120"/>
                        </a:rPr>
                        <a:t>Total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743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27</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46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112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24.9%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32.8%</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136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7"/>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6"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From Week 2 the dead-end rate held between 19% and 30%. Week 6 spiked to 46.1% on revisits and gated sites; Week 7 recovered to 29.3% on our largest weekly batch of self-generated leads.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WHAT CUSTOMERS ACTUALLY TOLD US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Every major </a:t>
            </a:r>
            <a:r>
              <a:rPr lang="en-US" sz="2700" b="1" dirty="0">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pain point </a:t>
            </a:r>
            <a:r>
              <a:rPr lang="en-US" sz="2700" b="1" dirty="0">
                <a:solidFill>
                  <a:srgbClr val="242126"/>
                </a:solidFill>
                <a:latin typeface="Archivo" pitchFamily="34" charset="0"/>
                <a:ea typeface="Archivo" pitchFamily="34" charset="-122"/>
                <a:cs typeface="Archivo" pitchFamily="34" charset="-120"/>
              </a:rPr>
              <a:t>appears only beside a live lead.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Text-mined from the comments, pain points, fleet and supplier fields across all 636 companies. A company can raise more than one.</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3872484"/>
        </p:xfrm>
        <a:graphic>
          <a:graphicData uri="http://schemas.openxmlformats.org/drawingml/2006/table">
            <a:tbl>
              <a:tblPr/>
              <a:tblGrid>
                <a:gridCol w="3931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gridCol w="1764792">
                  <a:extLst>
                    <a:ext uri="{9D8B030D-6E8A-4147-A177-3AD203B41FA5}">
                      <a16:colId xmlns:a16="http://schemas.microsoft.com/office/drawing/2014/main" val="20006"/>
                    </a:ext>
                  </a:extLst>
                </a:gridCol>
              </a:tblGrid>
              <a:tr h="352044">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Pain point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Share green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Severity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Equipment, generator and forklift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76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23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29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88%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Vehicles driven to a station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31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97%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Price and 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27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96%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CAFU service failure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20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Delivery and on-site refuelling</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89%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352044">
                <a:tc>
                  <a:txBody>
                    <a:bodyPr/>
                    <a:lstStyle/>
                    <a:p>
                      <a:pPr marL="0" indent="0">
                        <a:buNone/>
                      </a:pPr>
                      <a:r>
                        <a:rPr lang="en-US" sz="1100" b="1" dirty="0">
                          <a:solidFill>
                            <a:srgbClr val="242126"/>
                          </a:solidFill>
                          <a:latin typeface="Inter" pitchFamily="34" charset="0"/>
                          <a:ea typeface="Inter" pitchFamily="34" charset="-122"/>
                          <a:cs typeface="Inter" pitchFamily="34" charset="-120"/>
                        </a:rPr>
                        <a:t>Fuel quality and 10ppm spec</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18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Major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352044">
                <a:tc>
                  <a:txBody>
                    <a:bodyPr/>
                    <a:lstStyle/>
                    <a:p>
                      <a:pPr marL="0" indent="0">
                        <a:buNone/>
                      </a:pPr>
                      <a:r>
                        <a:rPr lang="en-US" sz="1100" dirty="0">
                          <a:solidFill>
                            <a:srgbClr val="242126"/>
                          </a:solidFill>
                          <a:latin typeface="Inter" pitchFamily="34" charset="0"/>
                          <a:ea typeface="Inter" pitchFamily="34" charset="-122"/>
                          <a:cs typeface="Inter" pitchFamily="34" charset="-120"/>
                        </a:rPr>
                        <a:t>ADNOC / ENOC chip and prepaid friction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19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Moderate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7"/>
                  </a:ext>
                </a:extLst>
              </a:tr>
              <a:tr h="352044">
                <a:tc>
                  <a:txBody>
                    <a:bodyPr/>
                    <a:lstStyle/>
                    <a:p>
                      <a:pPr marL="0" indent="0">
                        <a:buNone/>
                      </a:pPr>
                      <a:r>
                        <a:rPr lang="en-US" sz="1100" dirty="0">
                          <a:solidFill>
                            <a:srgbClr val="242126"/>
                          </a:solidFill>
                          <a:latin typeface="Inter" pitchFamily="34" charset="0"/>
                          <a:ea typeface="Inter" pitchFamily="34" charset="-122"/>
                          <a:cs typeface="Inter" pitchFamily="34" charset="-120"/>
                        </a:rPr>
                        <a:t>Credit and payment terms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10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High value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8"/>
                  </a:ext>
                </a:extLst>
              </a:tr>
              <a:tr h="352044">
                <a:tc>
                  <a:txBody>
                    <a:bodyPr/>
                    <a:lstStyle/>
                    <a:p>
                      <a:pPr marL="0" indent="0">
                        <a:buNone/>
                      </a:pPr>
                      <a:r>
                        <a:rPr lang="en-US" sz="1100" dirty="0">
                          <a:solidFill>
                            <a:srgbClr val="242126"/>
                          </a:solidFill>
                          <a:latin typeface="Inter" pitchFamily="34" charset="0"/>
                          <a:ea typeface="Inter" pitchFamily="34" charset="-122"/>
                          <a:cs typeface="Inter" pitchFamily="34" charset="-120"/>
                        </a:rPr>
                        <a:t>Trust and vendor verification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80%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Moderate</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9"/>
                  </a:ext>
                </a:extLst>
              </a:tr>
              <a:tr h="352044">
                <a:tc>
                  <a:txBody>
                    <a:bodyPr/>
                    <a:lstStyle/>
                    <a:p>
                      <a:pPr marL="0" indent="0">
                        <a:buNone/>
                      </a:pPr>
                      <a:r>
                        <a:rPr lang="en-US" sz="1100" dirty="0">
                          <a:solidFill>
                            <a:srgbClr val="242126"/>
                          </a:solidFill>
                          <a:latin typeface="Inter" pitchFamily="34" charset="0"/>
                          <a:ea typeface="Inter" pitchFamily="34" charset="-122"/>
                          <a:cs typeface="Inter" pitchFamily="34" charset="-120"/>
                        </a:rPr>
                        <a:t>Minimum order quantity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100%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Isolated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6"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76 companies raised equipment, generator or forklift refuelling. Price, CAFU and fuel quality appear only beside companies that use diesel.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DECISION MAKERS, BUYING BEHAVIOUR AND OBJECTIONS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Who decides, how they buy, and what they told us.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Drawn from 743 field visits. Quotations are verbatim, original spelling retained.</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4754880" cy="3200400"/>
        </p:xfrm>
        <a:graphic>
          <a:graphicData uri="http://schemas.openxmlformats.org/drawingml/2006/table">
            <a:tbl>
              <a:tblPr/>
              <a:tblGrid>
                <a:gridCol w="3566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45720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How they buy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Evidence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Fuel decision sits with a named buyer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146 named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Usually procurement, accounts, operations or owner</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By role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Locked into ADNOC / ENOC chip or prepaid cards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C91E2C"/>
                          </a:solidFill>
                          <a:latin typeface="Inter" pitchFamily="34" charset="0"/>
                          <a:ea typeface="Inter" pitchFamily="34" charset="-122"/>
                          <a:cs typeface="Inter" pitchFamily="34" charset="-120"/>
                        </a:rPr>
                        <a:t>19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Buys from unverified independent traders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C91E2C"/>
                          </a:solidFill>
                          <a:latin typeface="Inter" pitchFamily="34" charset="0"/>
                          <a:ea typeface="Inter" pitchFamily="34" charset="-122"/>
                          <a:cs typeface="Inter" pitchFamily="34" charset="-120"/>
                        </a:rPr>
                        <a:t>39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Drives vehicles to a retail station</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C91E2C"/>
                          </a:solidFill>
                          <a:latin typeface="Inter" pitchFamily="34" charset="0"/>
                          <a:ea typeface="Inter" pitchFamily="34" charset="-122"/>
                          <a:cs typeface="Inter" pitchFamily="34" charset="-120"/>
                        </a:rPr>
                        <a:t>36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050" b="1" dirty="0">
                          <a:solidFill>
                            <a:srgbClr val="242126"/>
                          </a:solidFill>
                          <a:latin typeface="Inter" pitchFamily="34" charset="0"/>
                          <a:ea typeface="Inter" pitchFamily="34" charset="-122"/>
                          <a:cs typeface="Inter" pitchFamily="34" charset="-120"/>
                        </a:rPr>
                        <a:t>Asks for credit terms before switching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B8891F"/>
                          </a:solidFill>
                          <a:latin typeface="Inter" pitchFamily="34" charset="0"/>
                          <a:ea typeface="Inter" pitchFamily="34" charset="-122"/>
                          <a:cs typeface="Inter" pitchFamily="34" charset="-120"/>
                        </a:rPr>
                        <a:t>10 cos.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486400" y="1956816"/>
          <a:ext cx="6199632" cy="3200400"/>
        </p:xfrm>
        <a:graphic>
          <a:graphicData uri="http://schemas.openxmlformats.org/drawingml/2006/table">
            <a:tbl>
              <a:tblPr/>
              <a:tblGrid>
                <a:gridCol w="4069080">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tblGrid>
              <a:tr h="45720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they said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Company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“They used to take from Cafu, but cafu stopped delivering”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SHJ Carbon Factory,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“Low quality fuel is reducing their vehicle's efficiency”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Uniforce Contracting,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“ADNOC has minimum quantity requirement”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SCA Shipping, Hot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“Contract with CAFU in 2025 but they stole their credit”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Al Jalal Trading,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“No trust on door step delivery”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Main Crete Contracting,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000" dirty="0">
                          <a:solidFill>
                            <a:srgbClr val="242126"/>
                          </a:solidFill>
                          <a:latin typeface="Inter" pitchFamily="34" charset="0"/>
                          <a:ea typeface="Inter" pitchFamily="34" charset="-122"/>
                          <a:cs typeface="Inter" pitchFamily="34" charset="-120"/>
                        </a:rPr>
                        <a:t>“Facing problems with ADNOC chip, need to topup”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Daira Carpentry, Warm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4"/>
          <p:cNvSpPr/>
          <p:nvPr/>
        </p:nvSpPr>
        <p:spPr>
          <a:xfrm>
            <a:off x="502920" y="6144768"/>
            <a:ext cx="11185855" cy="475488"/>
          </a:xfrm>
          <a:prstGeom prst="rect">
            <a:avLst/>
          </a:prstGeom>
          <a:solidFill>
            <a:srgbClr val="FCF3F4"/>
          </a:solidFill>
          <a:ln/>
        </p:spPr>
      </p:sp>
      <p:sp>
        <p:nvSpPr>
          <p:cNvPr id="9" name="Shape 5"/>
          <p:cNvSpPr/>
          <p:nvPr/>
        </p:nvSpPr>
        <p:spPr>
          <a:xfrm>
            <a:off x="502920" y="6144768"/>
            <a:ext cx="50292" cy="475488"/>
          </a:xfrm>
          <a:prstGeom prst="rect">
            <a:avLst/>
          </a:prstGeom>
          <a:solidFill>
            <a:srgbClr val="2E7D4F"/>
          </a:solidFill>
          <a:ln/>
        </p:spPr>
      </p:sp>
      <p:sp>
        <p:nvSpPr>
          <p:cNvPr id="6"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The common objections are reliability, quality, trust and access. Almost none are about price.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THE BARRIER NOBODY HAS PRICED</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100 companies are blocked, not disqualified.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Free zone entry, appointment protocols and gate passes. All solvable with administration rather than more visits.</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3291840"/>
        </p:xfrm>
        <a:graphic>
          <a:graphicData uri="http://schemas.openxmlformats.org/drawingml/2006/table">
            <a:tbl>
              <a:tblPr/>
              <a:tblGrid>
                <a:gridCol w="33832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336792">
                  <a:extLst>
                    <a:ext uri="{9D8B030D-6E8A-4147-A177-3AD203B41FA5}">
                      <a16:colId xmlns:a16="http://schemas.microsoft.com/office/drawing/2014/main" val="20002"/>
                    </a:ext>
                  </a:extLst>
                </a:gridCol>
              </a:tblGrid>
              <a:tr h="65836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Barrier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is actually needed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Inside a free zone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500" b="1" dirty="0">
                          <a:solidFill>
                            <a:srgbClr val="B8891F"/>
                          </a:solidFill>
                          <a:latin typeface="Inter" pitchFamily="34" charset="0"/>
                          <a:ea typeface="Inter" pitchFamily="34" charset="-122"/>
                          <a:cs typeface="Inter" pitchFamily="34" charset="-120"/>
                        </a:rPr>
                        <a:t>49</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A registered free-zone access pass. JAFZA, Hamriyah and Dubai Industrial City.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Booked appointment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500" b="1" dirty="0">
                          <a:solidFill>
                            <a:srgbClr val="41616F"/>
                          </a:solidFill>
                          <a:latin typeface="Inter" pitchFamily="34" charset="0"/>
                          <a:ea typeface="Inter" pitchFamily="34" charset="-122"/>
                          <a:cs typeface="Inter" pitchFamily="34" charset="-120"/>
                        </a:rPr>
                        <a:t>51</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A scheduled meeting rather than a walk-in. Mostly larger corporates.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Gate pass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500" b="1" dirty="0">
                          <a:solidFill>
                            <a:srgbClr val="41616F"/>
                          </a:solidFill>
                          <a:latin typeface="Inter" pitchFamily="34" charset="0"/>
                          <a:ea typeface="Inter" pitchFamily="34" charset="-122"/>
                          <a:cs typeface="Inter" pitchFamily="34" charset="-120"/>
                        </a:rPr>
                        <a:t>46</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Site-level security clearance, usually arranged in advance by the client.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Of which: Jebel Ali / JAFZA</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500" b="1" dirty="0">
                          <a:solidFill>
                            <a:srgbClr val="B33A3A"/>
                          </a:solidFill>
                          <a:latin typeface="Inter" pitchFamily="34" charset="0"/>
                          <a:ea typeface="Inter" pitchFamily="34" charset="-122"/>
                          <a:cs typeface="Inter" pitchFamily="34" charset="-120"/>
                        </a:rPr>
                        <a:t>65</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65 companies visited, 42 blocked at the gate, and zero Hot leads recorded.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02920" y="5349240"/>
            <a:ext cx="11185855" cy="384048"/>
          </a:xfrm>
          <a:prstGeom prst="rect">
            <a:avLst/>
          </a:prstGeom>
          <a:noFill/>
          <a:ln/>
        </p:spPr>
        <p:txBody>
          <a:bodyPr wrap="square" lIns="0" tIns="0" rIns="0" bIns="0" rtlCol="0" anchor="ctr"/>
          <a:lstStyle/>
          <a:p>
            <a:pPr marL="0" indent="0">
              <a:buNone/>
            </a:pPr>
            <a:r>
              <a:rPr lang="en-US" sz="1250" dirty="0">
                <a:solidFill>
                  <a:srgbClr val="3D4650"/>
                </a:solidFill>
                <a:latin typeface="Inter" pitchFamily="34" charset="0"/>
                <a:ea typeface="Inter" pitchFamily="34" charset="-122"/>
                <a:cs typeface="Inter" pitchFamily="34" charset="-120"/>
              </a:rPr>
              <a:t>A company can face more than one barrier, so the rows overlap. The workbook has a Passes Required field for this problem; it holds two entries against 100 blocked companies.</a:t>
            </a:r>
            <a:endParaRPr lang="en-US" sz="1250" dirty="0"/>
          </a:p>
        </p:txBody>
      </p:sp>
      <p:sp>
        <p:nvSpPr>
          <p:cNvPr id="8" name="Shape 5"/>
          <p:cNvSpPr/>
          <p:nvPr/>
        </p:nvSpPr>
        <p:spPr>
          <a:xfrm>
            <a:off x="502920" y="6144768"/>
            <a:ext cx="11185855" cy="475488"/>
          </a:xfrm>
          <a:prstGeom prst="rect">
            <a:avLst/>
          </a:prstGeom>
          <a:solidFill>
            <a:srgbClr val="FCF3F4"/>
          </a:solidFill>
          <a:ln/>
        </p:spPr>
        <p:txBody>
          <a:bodyPr/>
          <a:p/>
        </p:txBody>
      </p:sp>
      <p:sp>
        <p:nvSpPr>
          <p:cNvPr id="9" name="Shape 6"/>
          <p:cNvSpPr/>
          <p:nvPr/>
        </p:nvSpPr>
        <p:spPr>
          <a:xfrm>
            <a:off x="502920" y="6144768"/>
            <a:ext cx="50292" cy="475488"/>
          </a:xfrm>
          <a:prstGeom prst="rect">
            <a:avLst/>
          </a:prstGeom>
          <a:solidFill>
            <a:srgbClr val="2E7D4F"/>
          </a:solidFill>
          <a:ln/>
        </p:spPr>
        <p:txBody>
          <a:bodyPr/>
          <a:p/>
        </p:txBody>
      </p:sp>
      <p:sp>
        <p:nvSpPr>
          <p:cNvPr id="10" name="Text 7"/>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Buying access is cheaper than buying more field days.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WHERE THE DEMAND CONCENTRATES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400" b="1" dirty="0">
                <a:solidFill>
                  <a:srgbClr val="242126"/>
                </a:solidFill>
                <a:latin typeface="Archivo" pitchFamily="34" charset="0"/>
                <a:ea typeface="Archivo" pitchFamily="34" charset="-122"/>
                <a:cs typeface="Archivo" pitchFamily="34" charset="-120"/>
              </a:rPr>
              <a:t>Metals converted at 67%. Contracting took 34% of our visits and returned 24%.</a:t>
            </a:r>
            <a:endParaRPr lang="en-US" sz="24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Green rate means the share of companies confirmed as diesel users: Hot, Warm or Cold.</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974526103"/>
              </p:ext>
            </p:extLst>
          </p:nvPr>
        </p:nvGraphicFramePr>
        <p:xfrm>
          <a:off x="510803" y="1920240"/>
          <a:ext cx="11177971" cy="3863340"/>
        </p:xfrm>
        <a:graphic>
          <a:graphicData uri="http://schemas.openxmlformats.org/drawingml/2006/table">
            <a:tbl>
              <a:tblPr/>
              <a:tblGrid>
                <a:gridCol w="3930111">
                  <a:extLst>
                    <a:ext uri="{9D8B030D-6E8A-4147-A177-3AD203B41FA5}">
                      <a16:colId xmlns:a16="http://schemas.microsoft.com/office/drawing/2014/main" val="20000"/>
                    </a:ext>
                  </a:extLst>
                </a:gridCol>
                <a:gridCol w="1188173">
                  <a:extLst>
                    <a:ext uri="{9D8B030D-6E8A-4147-A177-3AD203B41FA5}">
                      <a16:colId xmlns:a16="http://schemas.microsoft.com/office/drawing/2014/main" val="20001"/>
                    </a:ext>
                  </a:extLst>
                </a:gridCol>
                <a:gridCol w="822583">
                  <a:extLst>
                    <a:ext uri="{9D8B030D-6E8A-4147-A177-3AD203B41FA5}">
                      <a16:colId xmlns:a16="http://schemas.microsoft.com/office/drawing/2014/main" val="20002"/>
                    </a:ext>
                  </a:extLst>
                </a:gridCol>
                <a:gridCol w="913980">
                  <a:extLst>
                    <a:ext uri="{9D8B030D-6E8A-4147-A177-3AD203B41FA5}">
                      <a16:colId xmlns:a16="http://schemas.microsoft.com/office/drawing/2014/main" val="20003"/>
                    </a:ext>
                  </a:extLst>
                </a:gridCol>
                <a:gridCol w="913980">
                  <a:extLst>
                    <a:ext uri="{9D8B030D-6E8A-4147-A177-3AD203B41FA5}">
                      <a16:colId xmlns:a16="http://schemas.microsoft.com/office/drawing/2014/main" val="20004"/>
                    </a:ext>
                  </a:extLst>
                </a:gridCol>
                <a:gridCol w="1599463">
                  <a:extLst>
                    <a:ext uri="{9D8B030D-6E8A-4147-A177-3AD203B41FA5}">
                      <a16:colId xmlns:a16="http://schemas.microsoft.com/office/drawing/2014/main" val="20005"/>
                    </a:ext>
                  </a:extLst>
                </a:gridCol>
                <a:gridCol w="1809681">
                  <a:extLst>
                    <a:ext uri="{9D8B030D-6E8A-4147-A177-3AD203B41FA5}">
                      <a16:colId xmlns:a16="http://schemas.microsoft.com/office/drawing/2014/main" val="20006"/>
                    </a:ext>
                  </a:extLst>
                </a:gridCol>
              </a:tblGrid>
              <a:tr h="29718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Industry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Visited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New leads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297180">
                <a:tc>
                  <a:txBody>
                    <a:bodyPr/>
                    <a:lstStyle/>
                    <a:p>
                      <a:pPr marL="0" indent="0">
                        <a:buNone/>
                      </a:pPr>
                      <a:r>
                        <a:rPr lang="en-US" sz="1050" b="1" dirty="0">
                          <a:solidFill>
                            <a:srgbClr val="242126"/>
                          </a:solidFill>
                          <a:latin typeface="Inter" pitchFamily="34" charset="0"/>
                          <a:ea typeface="Inter" pitchFamily="34" charset="-122"/>
                          <a:cs typeface="Inter" pitchFamily="34" charset="-120"/>
                        </a:rPr>
                        <a:t>Metal, steel and aluminium</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66.7%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buNone/>
                      </a:pPr>
                      <a:r>
                        <a:rPr lang="en-US" sz="1050" b="1" dirty="0">
                          <a:solidFill>
                            <a:srgbClr val="242126"/>
                          </a:solidFill>
                          <a:latin typeface="Inter" pitchFamily="34" charset="0"/>
                          <a:ea typeface="Inter" pitchFamily="34" charset="-122"/>
                          <a:cs typeface="Inter" pitchFamily="34" charset="-120"/>
                        </a:rPr>
                        <a:t>Food and beverage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47.6%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buNone/>
                      </a:pPr>
                      <a:r>
                        <a:rPr lang="en-US" sz="1050" b="1" dirty="0">
                          <a:solidFill>
                            <a:srgbClr val="242126"/>
                          </a:solidFill>
                          <a:latin typeface="Inter" pitchFamily="34" charset="0"/>
                          <a:ea typeface="Inter" pitchFamily="34" charset="-122"/>
                          <a:cs typeface="Inter" pitchFamily="34" charset="-120"/>
                        </a:rPr>
                        <a:t>Auto workshop and equipment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42.1%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Plastics and packaging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34.8%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Manufacturing and factory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51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31.4%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Marine, boats and shipping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81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28.4%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36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Trading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27.8%</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7"/>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Building and civil contracting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33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24.3%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37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8"/>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Electro-mechanical and MEP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20.0%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9"/>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Transport, logistics and fleet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74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18.9%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0"/>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Healthcare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14</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14.3%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3D4650"/>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1"/>
                  </a:ext>
                </a:extLst>
              </a:tr>
              <a:tr h="297180">
                <a:tc>
                  <a:txBody>
                    <a:bodyPr/>
                    <a:lstStyle/>
                    <a:p>
                      <a:pPr marL="0" indent="0">
                        <a:buNone/>
                      </a:pPr>
                      <a:r>
                        <a:rPr lang="en-US" sz="1050" dirty="0">
                          <a:solidFill>
                            <a:srgbClr val="242126"/>
                          </a:solidFill>
                          <a:latin typeface="Inter" pitchFamily="34" charset="0"/>
                          <a:ea typeface="Inter" pitchFamily="34" charset="-122"/>
                          <a:cs typeface="Inter" pitchFamily="34" charset="-120"/>
                        </a:rPr>
                        <a:t>Other / unclassified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95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3D4650"/>
                          </a:solidFill>
                          <a:latin typeface="Inter" pitchFamily="34" charset="0"/>
                          <a:ea typeface="Inter" pitchFamily="34" charset="-122"/>
                          <a:cs typeface="Inter" pitchFamily="34" charset="-120"/>
                        </a:rPr>
                        <a:t>30.5%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E7D4F"/>
                          </a:solidFill>
                          <a:latin typeface="Inter" pitchFamily="34" charset="0"/>
                          <a:ea typeface="Inter" pitchFamily="34" charset="-122"/>
                          <a:cs typeface="Inter" pitchFamily="34" charset="-120"/>
                        </a:rPr>
                        <a:t>31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Marine and boat building is the sleeper: 81 companies, and 36 of our 136 self-generated leads came from 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WHERE THE DEMAND CONCENTRATES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400" b="1" dirty="0">
                <a:solidFill>
                  <a:srgbClr val="242126"/>
                </a:solidFill>
                <a:latin typeface="Archivo" pitchFamily="34" charset="0"/>
                <a:ea typeface="Archivo" pitchFamily="34" charset="-122"/>
                <a:cs typeface="Archivo" pitchFamily="34" charset="-120"/>
              </a:rPr>
              <a:t>Al Sajaa returned 84.6% green. Jebel Ali returned no Hot leads at all.</a:t>
            </a:r>
            <a:endParaRPr lang="en-US" sz="24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Jebel Ali is not a demand problem. 42 of its 65 companies were blocked at the gate.</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4160520"/>
        </p:xfrm>
        <a:graphic>
          <a:graphicData uri="http://schemas.openxmlformats.org/drawingml/2006/table">
            <a:tbl>
              <a:tblPr/>
              <a:tblGrid>
                <a:gridCol w="4572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tblGrid>
              <a:tr h="29718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 visited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Visits per Hot lead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297180">
                <a:tc>
                  <a:txBody>
                    <a:bodyPr/>
                    <a:lstStyle/>
                    <a:p>
                      <a:pPr marL="0" indent="0">
                        <a:buNone/>
                      </a:pPr>
                      <a:r>
                        <a:rPr lang="en-US" sz="1100" b="1" dirty="0">
                          <a:solidFill>
                            <a:srgbClr val="242126"/>
                          </a:solidFill>
                          <a:latin typeface="Inter" pitchFamily="34" charset="0"/>
                          <a:ea typeface="Inter" pitchFamily="34" charset="-122"/>
                          <a:cs typeface="Inter" pitchFamily="34" charset="-120"/>
                        </a:rPr>
                        <a:t>Al Sajaa, Sharjah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13</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84.6%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13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buNone/>
                      </a:pPr>
                      <a:r>
                        <a:rPr lang="en-US" sz="1100" b="1" dirty="0">
                          <a:solidFill>
                            <a:srgbClr val="242126"/>
                          </a:solidFill>
                          <a:latin typeface="Inter" pitchFamily="34" charset="0"/>
                          <a:ea typeface="Inter" pitchFamily="34" charset="-122"/>
                          <a:cs typeface="Inter" pitchFamily="34" charset="-120"/>
                        </a:rPr>
                        <a:t>Warsan / International City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29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55.2%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14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buNone/>
                      </a:pPr>
                      <a:r>
                        <a:rPr lang="en-US" sz="1100" b="1" dirty="0">
                          <a:solidFill>
                            <a:srgbClr val="242126"/>
                          </a:solidFill>
                          <a:latin typeface="Inter" pitchFamily="34" charset="0"/>
                          <a:ea typeface="Inter" pitchFamily="34" charset="-122"/>
                          <a:cs typeface="Inter" pitchFamily="34" charset="-120"/>
                        </a:rPr>
                        <a:t>Nadd Al Hamar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50.0%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297180">
                <a:tc>
                  <a:txBody>
                    <a:bodyPr/>
                    <a:lstStyle/>
                    <a:p>
                      <a:pPr marL="0" indent="0">
                        <a:buNone/>
                      </a:pPr>
                      <a:r>
                        <a:rPr lang="en-US" sz="1100" b="1" dirty="0">
                          <a:solidFill>
                            <a:srgbClr val="242126"/>
                          </a:solidFill>
                          <a:latin typeface="Inter" pitchFamily="34" charset="0"/>
                          <a:ea typeface="Inter" pitchFamily="34" charset="-122"/>
                          <a:cs typeface="Inter" pitchFamily="34" charset="-120"/>
                        </a:rPr>
                        <a:t>Dubai Investment Park</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37</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45.9%</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18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297180">
                <a:tc>
                  <a:txBody>
                    <a:bodyPr/>
                    <a:lstStyle/>
                    <a:p>
                      <a:pPr marL="0" indent="0">
                        <a:buNone/>
                      </a:pPr>
                      <a:r>
                        <a:rPr lang="en-US" sz="1100" b="1" dirty="0">
                          <a:solidFill>
                            <a:srgbClr val="242126"/>
                          </a:solidFill>
                          <a:latin typeface="Inter" pitchFamily="34" charset="0"/>
                          <a:ea typeface="Inter" pitchFamily="34" charset="-122"/>
                          <a:cs typeface="Inter" pitchFamily="34" charset="-120"/>
                        </a:rPr>
                        <a:t>Dubai Industrial City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34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2E7D4F"/>
                          </a:solidFill>
                          <a:latin typeface="Inter" pitchFamily="34" charset="0"/>
                          <a:ea typeface="Inter" pitchFamily="34" charset="-122"/>
                          <a:cs typeface="Inter" pitchFamily="34" charset="-120"/>
                        </a:rPr>
                        <a:t>44.1%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8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Al Jurf, Ajman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37.5%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Sharjah Industrial Areas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52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34.6%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13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7"/>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Al Quoz</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46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26.1%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46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8"/>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Umm Al Quwain</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16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25.0%</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16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9"/>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Dubai Silicon Oasis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21</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23.8%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0"/>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Business Bay / Jumeirah / Barsha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92</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22.8%</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31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1"/>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Ajman Industrial Area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56</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21.4%</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28 visits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2"/>
                  </a:ext>
                </a:extLst>
              </a:tr>
              <a:tr h="297180">
                <a:tc>
                  <a:txBody>
                    <a:bodyPr/>
                    <a:lstStyle/>
                    <a:p>
                      <a:pPr marL="0" indent="0">
                        <a:buNone/>
                      </a:pPr>
                      <a:r>
                        <a:rPr lang="en-US" sz="1100" dirty="0">
                          <a:solidFill>
                            <a:srgbClr val="242126"/>
                          </a:solidFill>
                          <a:latin typeface="Inter" pitchFamily="34" charset="0"/>
                          <a:ea typeface="Inter" pitchFamily="34" charset="-122"/>
                          <a:cs typeface="Inter" pitchFamily="34" charset="-120"/>
                        </a:rPr>
                        <a:t>Jebel Ali / JAFZA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242126"/>
                          </a:solidFill>
                          <a:latin typeface="Inter" pitchFamily="34" charset="0"/>
                          <a:ea typeface="Inter" pitchFamily="34" charset="-122"/>
                          <a:cs typeface="Inter" pitchFamily="34" charset="-120"/>
                        </a:rPr>
                        <a:t>65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b="1" dirty="0">
                          <a:solidFill>
                            <a:srgbClr val="B33A3A"/>
                          </a:solidFill>
                          <a:latin typeface="Inter" pitchFamily="34" charset="0"/>
                          <a:ea typeface="Inter" pitchFamily="34" charset="-122"/>
                          <a:cs typeface="Inter" pitchFamily="34" charset="-120"/>
                        </a:rPr>
                        <a:t>18.5%</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00" dirty="0">
                          <a:solidFill>
                            <a:srgbClr val="3D4650"/>
                          </a:solidFill>
                          <a:latin typeface="Inter" pitchFamily="34" charset="0"/>
                          <a:ea typeface="Inter" pitchFamily="34" charset="-122"/>
                          <a:cs typeface="Inter" pitchFamily="34" charset="-120"/>
                        </a:rPr>
                        <a:t>no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Dubai Industrial City and DIP together: 71 companies at 45% green, and 20 self-generated leads.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WHERE TO SEND THE TEAM NEXT</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Four territories to work, one to stop visiting.</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Only the areas we actually covered are shown. Abu Dhabi was not part of this programme.</a:t>
            </a:r>
            <a:endParaRPr lang="en-US" sz="1250" dirty="0"/>
          </a:p>
        </p:txBody>
      </p:sp>
      <p:pic>
        <p:nvPicPr>
          <p:cNvPr id="6" name="Image 0" descr="/mnt/user-data/outputs/charts/map_clean.png"/>
          <p:cNvPicPr>
            <a:picLocks noChangeAspect="1"/>
          </p:cNvPicPr>
          <p:nvPr/>
        </p:nvPicPr>
        <p:blipFill>
          <a:blip r:embed="rId3"/>
          <a:stretch>
            <a:fillRect/>
          </a:stretch>
        </p:blipFill>
        <p:spPr>
          <a:xfrm>
            <a:off x="411480" y="1874520"/>
            <a:ext cx="4846320" cy="4187952"/>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0" y="1874520"/>
          <a:ext cx="6199632" cy="4279392"/>
        </p:xfrm>
        <a:graphic>
          <a:graphicData uri="http://schemas.openxmlformats.org/drawingml/2006/table">
            <a:tbl>
              <a:tblPr/>
              <a:tblGrid>
                <a:gridCol w="658368">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3209544">
                  <a:extLst>
                    <a:ext uri="{9D8B030D-6E8A-4147-A177-3AD203B41FA5}">
                      <a16:colId xmlns:a16="http://schemas.microsoft.com/office/drawing/2014/main" val="20002"/>
                    </a:ext>
                  </a:extLst>
                </a:gridCol>
              </a:tblGrid>
              <a:tr h="713232">
                <a:tc>
                  <a:txBody>
                    <a:bodyPr/>
                    <a:lstStyle/>
                    <a:p>
                      <a:pPr marL="0" indent="0" algn="ctr">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Territory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713232">
                <a:tc>
                  <a:txBody>
                    <a:bodyPr/>
                    <a:lstStyle/>
                    <a:p>
                      <a:pPr marL="0" indent="0" algn="ctr">
                        <a:buNone/>
                      </a:pPr>
                      <a:r>
                        <a:rPr lang="en-US" sz="1400" b="1" dirty="0">
                          <a:solidFill>
                            <a:srgbClr val="2E7D4F"/>
                          </a:solidFill>
                          <a:latin typeface="Inter" pitchFamily="34" charset="0"/>
                          <a:ea typeface="Inter" pitchFamily="34" charset="-122"/>
                          <a:cs typeface="Inter" pitchFamily="34" charset="-120"/>
                        </a:rPr>
                        <a:t>1</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Sharjah Industrial Areas + Al Sajaa</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65 companies at 34.6% and 84.6% green. Street by street sweep.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713232">
                <a:tc>
                  <a:txBody>
                    <a:bodyPr/>
                    <a:lstStyle/>
                    <a:p>
                      <a:pPr marL="0" indent="0" algn="ctr">
                        <a:buNone/>
                      </a:pPr>
                      <a:r>
                        <a:rPr lang="en-US" sz="1400" b="1" dirty="0">
                          <a:solidFill>
                            <a:srgbClr val="2E7D4F"/>
                          </a:solidFill>
                          <a:latin typeface="Inter" pitchFamily="34" charset="0"/>
                          <a:ea typeface="Inter" pitchFamily="34" charset="-122"/>
                          <a:cs typeface="Inter" pitchFamily="34" charset="-120"/>
                        </a:rPr>
                        <a:t>2</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Dubai Investment Park + Dubai Industrial City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71 companies at 45% green, and 20 self-generated leads.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713232">
                <a:tc>
                  <a:txBody>
                    <a:bodyPr/>
                    <a:lstStyle/>
                    <a:p>
                      <a:pPr marL="0" indent="0" algn="ctr">
                        <a:buNone/>
                      </a:pPr>
                      <a:r>
                        <a:rPr lang="en-US" sz="1400" b="1" dirty="0">
                          <a:solidFill>
                            <a:srgbClr val="B33A3A"/>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Jebel Ali / JAFZA</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65 companies, 42 blocked at the gate. Needs passes, not visits.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713232">
                <a:tc>
                  <a:txBody>
                    <a:bodyPr/>
                    <a:lstStyle/>
                    <a:p>
                      <a:pPr marL="0" indent="0" algn="ctr">
                        <a:buNone/>
                      </a:pPr>
                      <a:r>
                        <a:rPr lang="en-US" sz="1400" b="1" dirty="0">
                          <a:solidFill>
                            <a:srgbClr val="41616F"/>
                          </a:solidFill>
                          <a:latin typeface="Inter" pitchFamily="34" charset="0"/>
                          <a:ea typeface="Inter" pitchFamily="34" charset="-122"/>
                          <a:cs typeface="Inter" pitchFamily="34" charset="-120"/>
                        </a:rPr>
                        <a:t>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Al Jurf + Ajman Industrial</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72 companies. Worth a second sweep with verified addresses.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713232">
                <a:tc>
                  <a:txBody>
                    <a:bodyPr/>
                    <a:lstStyle/>
                    <a:p>
                      <a:pPr marL="0" indent="0" algn="ctr">
                        <a:buNone/>
                      </a:pPr>
                      <a:r>
                        <a:rPr lang="en-US" sz="1100" b="1" dirty="0">
                          <a:solidFill>
                            <a:srgbClr val="3D4650"/>
                          </a:solidFill>
                          <a:latin typeface="Inter" pitchFamily="34" charset="0"/>
                          <a:ea typeface="Inter" pitchFamily="34" charset="-122"/>
                          <a:cs typeface="Inter" pitchFamily="34" charset="-120"/>
                        </a:rPr>
                        <a:t>Stop</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Business Bay, Jumeirah, Silicon Oasis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113 companies returned 26 green and 3 Hot. Registered offices, not sites.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COMPETITOR LANDSCAPE</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No supplier owns this market, and </a:t>
            </a:r>
            <a:r>
              <a:rPr lang="en-US" sz="2700" b="1" dirty="0">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CAFU has created a vacuum</a:t>
            </a:r>
            <a:r>
              <a:rPr lang="en-US" sz="2700" b="1" dirty="0">
                <a:solidFill>
                  <a:srgbClr val="242126"/>
                </a:solidFill>
                <a:latin typeface="Archivo" pitchFamily="34" charset="0"/>
                <a:ea typeface="Archivo" pitchFamily="34" charset="-122"/>
                <a:cs typeface="Archivo" pitchFamily="34" charset="-120"/>
              </a:rPr>
              <a:t>.</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Of the 122 companies that named a supplier, the largest single group buys from independent traders.</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2970784"/>
        </p:xfrm>
        <a:graphic>
          <a:graphicData uri="http://schemas.openxmlformats.org/drawingml/2006/table">
            <a:tbl>
              <a:tblPr/>
              <a:tblGrid>
                <a:gridCol w="3108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4096512">
                  <a:extLst>
                    <a:ext uri="{9D8B030D-6E8A-4147-A177-3AD203B41FA5}">
                      <a16:colId xmlns:a16="http://schemas.microsoft.com/office/drawing/2014/main" val="20005"/>
                    </a:ext>
                  </a:extLst>
                </a:gridCol>
              </a:tblGrid>
              <a:tr h="420624">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Current supplier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their customers say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Independent third-party traders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42126"/>
                          </a:solidFill>
                          <a:latin typeface="Inter" pitchFamily="34" charset="0"/>
                          <a:ea typeface="Inter" pitchFamily="34" charset="-122"/>
                          <a:cs typeface="Inter" pitchFamily="34" charset="-120"/>
                        </a:rPr>
                        <a:t>39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9</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Quality and trust complaints cluster here.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ADNOC</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42126"/>
                          </a:solidFill>
                          <a:latin typeface="Inter" pitchFamily="34" charset="0"/>
                          <a:ea typeface="Inter" pitchFamily="34" charset="-122"/>
                          <a:cs typeface="Inter" pitchFamily="34" charset="-120"/>
                        </a:rPr>
                        <a:t>31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Price, contract difficulty, minimum quantities.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Self-fuelling at retail stations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42126"/>
                          </a:solidFill>
                          <a:latin typeface="Inter" pitchFamily="34" charset="0"/>
                          <a:ea typeface="Inter" pitchFamily="34" charset="-122"/>
                          <a:cs typeface="Inter" pitchFamily="34" charset="-120"/>
                        </a:rPr>
                        <a:t>36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17</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15</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Not a supplier relationship at all. The competitor is the pump.</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ENOC / EPPCO</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42126"/>
                          </a:solidFill>
                          <a:latin typeface="Inter" pitchFamily="34" charset="0"/>
                          <a:ea typeface="Inter" pitchFamily="34" charset="-122"/>
                          <a:cs typeface="Inter" pitchFamily="34" charset="-120"/>
                        </a:rPr>
                        <a:t>30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16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Price.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CAFU</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050" b="1" dirty="0">
                          <a:solidFill>
                            <a:srgbClr val="C91E2C"/>
                          </a:solidFill>
                          <a:latin typeface="Inter" pitchFamily="34" charset="0"/>
                          <a:ea typeface="Inter" pitchFamily="34" charset="-122"/>
                          <a:cs typeface="Inter" pitchFamily="34" charset="-120"/>
                        </a:rPr>
                        <a:t>20 mentioned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2</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3</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Withdrawal and service failure. 16 of 20 mentions are negative.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extLst>
                  <a:ext uri="{0D108BD9-81ED-4DB2-BD59-A6C34878D82A}">
                    <a16:rowId xmlns:a16="http://schemas.microsoft.com/office/drawing/2014/main" val="10005"/>
                  </a:ext>
                </a:extLst>
              </a:tr>
              <a:tr h="420624">
                <a:tc>
                  <a:txBody>
                    <a:bodyPr/>
                    <a:lstStyle/>
                    <a:p>
                      <a:pPr marL="0" indent="0">
                        <a:buNone/>
                      </a:pPr>
                      <a:r>
                        <a:rPr lang="en-US" sz="1050" b="1" dirty="0">
                          <a:solidFill>
                            <a:srgbClr val="242126"/>
                          </a:solidFill>
                          <a:latin typeface="Inter" pitchFamily="34" charset="0"/>
                          <a:ea typeface="Inter" pitchFamily="34" charset="-122"/>
                          <a:cs typeface="Inter" pitchFamily="34" charset="-120"/>
                        </a:rPr>
                        <a:t>Emarat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b="1" dirty="0">
                          <a:solidFill>
                            <a:srgbClr val="242126"/>
                          </a:solidFill>
                          <a:latin typeface="Inter" pitchFamily="34" charset="0"/>
                          <a:ea typeface="Inter" pitchFamily="34" charset="-122"/>
                          <a:cs typeface="Inter" pitchFamily="34" charset="-120"/>
                        </a:rPr>
                        <a:t>1</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50" dirty="0">
                          <a:solidFill>
                            <a:srgbClr val="242126"/>
                          </a:solidFill>
                          <a:latin typeface="Inter" pitchFamily="34" charset="0"/>
                          <a:ea typeface="Inter" pitchFamily="34" charset="-122"/>
                          <a:cs typeface="Inter" pitchFamily="34" charset="-120"/>
                        </a:rPr>
                        <a: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Marginal presence in this dataset.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txBox="1"/>
          <p:nvPr/>
        </p:nvSpPr>
        <p:spPr>
          <a:xfrm>
            <a:off x="502920" y="5285232"/>
            <a:ext cx="11185855" cy="749808"/>
          </a:xfrm>
          <a:prstGeom prst="rect">
            <a:avLst/>
          </a:prstGeom>
          <a:noFill/>
          <a:ln/>
        </p:spPr>
        <p:txBody>
          <a:bodyPr wrap="square" lIns="0" tIns="0" rIns="0" bIns="0" rtlCol="0" anchor="ctr"/>
          <a:lstStyle/>
          <a:p>
            <a:pPr marL="0" indent="0">
              <a:lnSpc>
                <a:spcPts val="1600"/>
              </a:lnSpc>
              <a:buNone/>
            </a:pPr>
            <a:r>
              <a:rPr lang="en-US" sz="1100" dirty="0">
                <a:solidFill>
                  <a:srgbClr val="3D4650"/>
                </a:solidFill>
                <a:latin typeface="Inter" pitchFamily="34" charset="0"/>
                <a:ea typeface="Inter" pitchFamily="34" charset="-122"/>
                <a:cs typeface="Inter" pitchFamily="34" charset="-120"/>
              </a:rPr>
              <a:t>Pricing context: UAE diesel is price-regulated at AED 4.30 per litre (September 2026), so every station charges the same. CAFU reinstated delivery fees of AED 12 to 20 per order in April 2025. FILLIT's differentiators are therefore delivery, 10ppm quality, no minimum order and pricing issued before dispatch, not the litre price.</a:t>
            </a:r>
            <a:endParaRPr lang="en-US" sz="1100" dirty="0"/>
          </a:p>
        </p:txBody>
      </p:sp>
      <p:sp>
        <p:nvSpPr>
          <p:cNvPr id="8" name="Shape 5"/>
          <p:cNvSpPr/>
          <p:nvPr/>
        </p:nvSpPr>
        <p:spPr>
          <a:xfrm>
            <a:off x="502920" y="6144768"/>
            <a:ext cx="11185855" cy="475488"/>
          </a:xfrm>
          <a:prstGeom prst="rect">
            <a:avLst/>
          </a:prstGeom>
          <a:solidFill>
            <a:srgbClr val="FCF3F4"/>
          </a:solidFill>
          <a:ln/>
        </p:spPr>
        <p:txBody>
          <a:bodyPr/>
          <a:p/>
        </p:txBody>
      </p:sp>
      <p:sp>
        <p:nvSpPr>
          <p:cNvPr id="9" name="Shape 6"/>
          <p:cNvSpPr/>
          <p:nvPr/>
        </p:nvSpPr>
        <p:spPr>
          <a:xfrm>
            <a:off x="502920" y="6144768"/>
            <a:ext cx="50292" cy="475488"/>
          </a:xfrm>
          <a:prstGeom prst="rect">
            <a:avLst/>
          </a:prstGeom>
          <a:solidFill>
            <a:srgbClr val="C91E2C"/>
          </a:solidFill>
          <a:ln/>
        </p:spPr>
        <p:txBody>
          <a:bodyPr/>
          <a:p/>
        </p:txBody>
      </p:sp>
      <p:sp>
        <p:nvSpPr>
          <p:cNvPr id="10" name="Text 7"/>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36 companies have no delivered-fuel supplier at all. They drive to a station. The competitor is the pump.</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THE FINDING THAT CHANGES THE PRIORITY LIST</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Our own scoring was pointing at the wrong companies.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Across the 90 Hot, Warm and Cold companies whose consumption converts to litres per month, excluding one outlier account.</a:t>
            </a:r>
            <a:endParaRPr lang="en-US" sz="1250" dirty="0"/>
          </a:p>
        </p:txBody>
      </p:sp>
      <p:sp>
        <p:nvSpPr>
          <p:cNvPr id="6" name="Text 4"/>
          <p:cNvSpPr txBox="1"/>
          <p:nvPr/>
        </p:nvSpPr>
        <p:spPr>
          <a:xfrm>
            <a:off x="502920" y="2057400"/>
            <a:ext cx="2926080" cy="1371600"/>
          </a:xfrm>
          <a:prstGeom prst="rect">
            <a:avLst/>
          </a:prstGeom>
          <a:noFill/>
          <a:ln/>
        </p:spPr>
        <p:txBody>
          <a:bodyPr wrap="square" lIns="0" tIns="0" rIns="0" bIns="0" rtlCol="0" anchor="ctr"/>
          <a:lstStyle/>
          <a:p>
            <a:pPr marL="0" indent="0">
              <a:buNone/>
            </a:pPr>
            <a:r>
              <a:rPr lang="en-US" sz="8600" b="1" dirty="0">
                <a:solidFill>
                  <a:srgbClr val="92D050"/>
                </a:solidFill>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58%</a:t>
            </a:r>
            <a:endParaRPr lang="en-US" sz="8600" dirty="0">
              <a:solidFill>
                <a:srgbClr val="92D050"/>
              </a:solidFill>
            </a:endParaRPr>
          </a:p>
        </p:txBody>
      </p:sp>
      <p:sp>
        <p:nvSpPr>
          <p:cNvPr id="7" name="Text 5"/>
          <p:cNvSpPr txBox="1"/>
          <p:nvPr/>
        </p:nvSpPr>
        <p:spPr>
          <a:xfrm>
            <a:off x="502920" y="3474720"/>
            <a:ext cx="3840480" cy="868680"/>
          </a:xfrm>
          <a:prstGeom prst="rect">
            <a:avLst/>
          </a:prstGeom>
          <a:noFill/>
          <a:ln/>
        </p:spPr>
        <p:txBody>
          <a:bodyPr wrap="square" lIns="0" tIns="0" rIns="0" bIns="0" rtlCol="0" anchor="ctr"/>
          <a:lstStyle/>
          <a:p>
            <a:pPr marL="0" indent="0">
              <a:lnSpc>
                <a:spcPts val="2400"/>
              </a:lnSpc>
              <a:buNone/>
            </a:pPr>
            <a:r>
              <a:rPr lang="en-US" sz="1700" b="1" dirty="0">
                <a:solidFill>
                  <a:srgbClr val="242126"/>
                </a:solidFill>
                <a:latin typeface="Archivo" pitchFamily="34" charset="0"/>
                <a:ea typeface="Archivo" pitchFamily="34" charset="-122"/>
                <a:cs typeface="Archivo" pitchFamily="34" charset="-120"/>
              </a:rPr>
              <a:t>of measured diesel volume sits in companies we scored Cold.</a:t>
            </a:r>
            <a:endParaRPr lang="en-US" sz="1700" dirty="0"/>
          </a:p>
        </p:txBody>
      </p:sp>
      <p:sp>
        <p:nvSpPr>
          <p:cNvPr id="8" name="Text 6"/>
          <p:cNvSpPr txBox="1"/>
          <p:nvPr/>
        </p:nvSpPr>
        <p:spPr>
          <a:xfrm>
            <a:off x="502920" y="4434840"/>
            <a:ext cx="3840480" cy="868680"/>
          </a:xfrm>
          <a:prstGeom prst="rect">
            <a:avLst/>
          </a:prstGeom>
          <a:noFill/>
          <a:ln/>
        </p:spPr>
        <p:txBody>
          <a:bodyPr wrap="square" lIns="0" tIns="0" rIns="0" bIns="0" rtlCol="0" anchor="ctr"/>
          <a:lstStyle/>
          <a:p>
            <a:pPr marL="0" indent="0">
              <a:lnSpc>
                <a:spcPts val="1700"/>
              </a:lnSpc>
              <a:buNone/>
            </a:pPr>
            <a:r>
              <a:rPr lang="en-US" sz="1150" dirty="0">
                <a:solidFill>
                  <a:srgbClr val="3D4650"/>
                </a:solidFill>
                <a:latin typeface="Inter" pitchFamily="34" charset="0"/>
                <a:ea typeface="Inter" pitchFamily="34" charset="-122"/>
                <a:cs typeface="Inter" pitchFamily="34" charset="-120"/>
              </a:rPr>
              <a:t>RP Group (Hot, about 4.5 million litres a month) is excluded because it alone would outweigh everything else combined.</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54880" y="2057400"/>
          <a:ext cx="6931152" cy="3291840"/>
        </p:xfrm>
        <a:graphic>
          <a:graphicData uri="http://schemas.openxmlformats.org/drawingml/2006/table">
            <a:tbl>
              <a:tblPr/>
              <a:tblGrid>
                <a:gridCol w="2724912">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65836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Measure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Hot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Warm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Cold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Companies with measured volume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35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35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Total litres per month</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317,123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497,376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C91E2C"/>
                          </a:solidFill>
                          <a:latin typeface="Inter" pitchFamily="34" charset="0"/>
                          <a:ea typeface="Inter" pitchFamily="34" charset="-122"/>
                          <a:cs typeface="Inter" pitchFamily="34" charset="-120"/>
                        </a:rPr>
                        <a:t>1,139,293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Share of measured volume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16.2%</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25.5%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C91E2C"/>
                          </a:solidFill>
                          <a:latin typeface="Inter" pitchFamily="34" charset="0"/>
                          <a:ea typeface="Inter" pitchFamily="34" charset="-122"/>
                          <a:cs typeface="Inter" pitchFamily="34" charset="-120"/>
                        </a:rPr>
                        <a:t>58.3%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Average per company</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15,856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14,211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C91E2C"/>
                          </a:solidFill>
                          <a:latin typeface="Inter" pitchFamily="34" charset="0"/>
                          <a:ea typeface="Inter" pitchFamily="34" charset="-122"/>
                          <a:cs typeface="Inter" pitchFamily="34" charset="-120"/>
                        </a:rPr>
                        <a:t>32,551 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Shape 7"/>
          <p:cNvSpPr/>
          <p:nvPr/>
        </p:nvSpPr>
        <p:spPr>
          <a:xfrm>
            <a:off x="502920" y="6144768"/>
            <a:ext cx="11185855" cy="475488"/>
          </a:xfrm>
          <a:prstGeom prst="rect">
            <a:avLst/>
          </a:prstGeom>
          <a:solidFill>
            <a:srgbClr val="FCF3F4"/>
          </a:solidFill>
          <a:ln/>
        </p:spPr>
        <p:txBody>
          <a:bodyPr/>
          <a:p/>
        </p:txBody>
      </p:sp>
      <p:sp>
        <p:nvSpPr>
          <p:cNvPr id="11" name="Shape 8"/>
          <p:cNvSpPr/>
          <p:nvPr/>
        </p:nvSpPr>
        <p:spPr>
          <a:xfrm>
            <a:off x="502920" y="6144768"/>
            <a:ext cx="50292" cy="475488"/>
          </a:xfrm>
          <a:prstGeom prst="rect">
            <a:avLst/>
          </a:prstGeom>
          <a:solidFill>
            <a:srgbClr val="2E7D4F"/>
          </a:solidFill>
          <a:ln/>
        </p:spPr>
        <p:txBody>
          <a:bodyPr/>
          <a:p/>
        </p:txBody>
      </p:sp>
      <p:sp>
        <p:nvSpPr>
          <p:cNvPr id="12" name="Text 9"/>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Escalate the top 10 Cold accounts by volume to a named account manager. The average Cold company uses 2.1x a Hot one.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BUSINESS OPPORTUNITY MAP</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75979"/>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Six </a:t>
            </a:r>
            <a:r>
              <a:rPr lang="en-US" sz="2700" b="1" dirty="0">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customer problems</a:t>
            </a:r>
            <a:r>
              <a:rPr lang="en-US" sz="2700" b="1" dirty="0">
                <a:solidFill>
                  <a:srgbClr val="242126"/>
                </a:solidFill>
                <a:latin typeface="Archivo" pitchFamily="34" charset="0"/>
                <a:ea typeface="Archivo" pitchFamily="34" charset="-122"/>
                <a:cs typeface="Archivo" pitchFamily="34" charset="-120"/>
              </a:rPr>
              <a:t>, and the opening each one creates.</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Each row is a named group of companies in the handover files, not a market segment estimate.</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3968496"/>
        </p:xfrm>
        <a:graphic>
          <a:graphicData uri="http://schemas.openxmlformats.org/drawingml/2006/table">
            <a:tbl>
              <a:tblPr/>
              <a:tblGrid>
                <a:gridCol w="4206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605272">
                  <a:extLst>
                    <a:ext uri="{9D8B030D-6E8A-4147-A177-3AD203B41FA5}">
                      <a16:colId xmlns:a16="http://schemas.microsoft.com/office/drawing/2014/main" val="20002"/>
                    </a:ext>
                  </a:extLst>
                </a:gridCol>
              </a:tblGrid>
              <a:tr h="56692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Customer problem</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The commercial opening it creates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CAFU stopped delivering or will not fill on site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Direct replacement of a withdrawn supplier. No price fight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Vehicles and machinery driven to a fuel station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31</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Sell downtime recovery, not a cheaper litre. Price is regulated, time is not.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Bad fuel from independent traders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Verifiable 10ppm with batch certification. Nine of ten quality specs asked for 10ppm.</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ADNOC minimum quantities and chip friction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No-minimum delivery and post-paid terms. The exclusion is itself a market.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Credit and working capital</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Structured terms. Four of the ten credit requests are already Hot.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150" b="1" dirty="0">
                          <a:solidFill>
                            <a:srgbClr val="242126"/>
                          </a:solidFill>
                          <a:latin typeface="Inter" pitchFamily="34" charset="0"/>
                          <a:ea typeface="Inter" pitchFamily="34" charset="-122"/>
                          <a:cs typeface="Inter" pitchFamily="34" charset="-120"/>
                        </a:rPr>
                        <a:t>Forklift, generator and machinery refuelling</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C91E2C"/>
                          </a:solidFill>
                          <a:latin typeface="Inter" pitchFamily="34" charset="0"/>
                          <a:ea typeface="Inter" pitchFamily="34" charset="-122"/>
                          <a:cs typeface="Inter" pitchFamily="34" charset="-120"/>
                        </a:rPr>
                        <a:t>76</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The largest group of all. None of this equipment can be driven to a pump.</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4"/>
          <p:cNvSpPr/>
          <p:nvPr/>
        </p:nvSpPr>
        <p:spPr>
          <a:xfrm>
            <a:off x="502920" y="6144768"/>
            <a:ext cx="11185855" cy="475488"/>
          </a:xfrm>
          <a:prstGeom prst="rect">
            <a:avLst/>
          </a:prstGeom>
          <a:solidFill>
            <a:srgbClr val="FCF3F4"/>
          </a:solidFill>
          <a:ln/>
        </p:spPr>
      </p:sp>
      <p:sp>
        <p:nvSpPr>
          <p:cNvPr id="8" name="Shape 5"/>
          <p:cNvSpPr/>
          <p:nvPr/>
        </p:nvSpPr>
        <p:spPr>
          <a:xfrm>
            <a:off x="502920" y="6144768"/>
            <a:ext cx="50292" cy="475488"/>
          </a:xfrm>
          <a:prstGeom prst="rect">
            <a:avLst/>
          </a:prstGeom>
          <a:solidFill>
            <a:srgbClr val="2E7D4F"/>
          </a:solidFill>
          <a:ln/>
        </p:spPr>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Not one of these six openings is a price argument.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PRIORITISED HIGH-POTENTIAL LEADS</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72 qualified companies, named and profiled.</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Seven of each shown. Every one has a named contact, a known current supplier and a recorded fleet.</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3718336515"/>
              </p:ext>
            </p:extLst>
          </p:nvPr>
        </p:nvGraphicFramePr>
        <p:xfrm>
          <a:off x="502920" y="1956816"/>
          <a:ext cx="5532120" cy="2992120"/>
        </p:xfrm>
        <a:graphic>
          <a:graphicData uri="http://schemas.openxmlformats.org/drawingml/2006/table">
            <a:tbl>
              <a:tblPr/>
              <a:tblGrid>
                <a:gridCol w="2514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65760">
                <a:tc>
                  <a:txBody>
                    <a:bodyPr/>
                    <a:lstStyle/>
                    <a:p>
                      <a:pPr marL="0" indent="0" algn="l">
                        <a:buNone/>
                      </a:pPr>
                      <a:r>
                        <a:rPr lang="en-US" sz="950" b="1" kern="0" spc="100" dirty="0">
                          <a:solidFill>
                            <a:srgbClr val="00B050"/>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27 Hot leads</a:t>
                      </a:r>
                      <a:endParaRPr lang="en-US" sz="950" dirty="0">
                        <a:solidFill>
                          <a:srgbClr val="00B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Buys from today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RP Group, Gulf Asian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Multiple 3rd party traders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Saif Al Saleh Transport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Warsan / Int'l City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Welcome Diesel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Merint Interior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Dubai Industrial City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ENOC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Poorav Chemical Transport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Warsan / Int'l City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Silver Homes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Sun Metal Casting Factory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Sharjah Industrial</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Third party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Al Fanous Al Fadhi Glass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Al Sajaa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Drives to fuel station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MGM General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Dubai</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E7D4F"/>
                          </a:solidFill>
                          <a:latin typeface="Inter" pitchFamily="34" charset="0"/>
                          <a:ea typeface="Inter" pitchFamily="34" charset="-122"/>
                          <a:cs typeface="Inter" pitchFamily="34" charset="-120"/>
                        </a:rPr>
                        <a:t>Maxwell Fuel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023969654"/>
              </p:ext>
            </p:extLst>
          </p:nvPr>
        </p:nvGraphicFramePr>
        <p:xfrm>
          <a:off x="6153912" y="1956816"/>
          <a:ext cx="5532120" cy="2926080"/>
        </p:xfrm>
        <a:graphic>
          <a:graphicData uri="http://schemas.openxmlformats.org/drawingml/2006/table">
            <a:tbl>
              <a:tblPr/>
              <a:tblGrid>
                <a:gridCol w="2514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65760">
                <a:tc>
                  <a:txBody>
                    <a:bodyPr/>
                    <a:lstStyle/>
                    <a:p>
                      <a:pPr marL="0" indent="0" algn="l">
                        <a:buNone/>
                      </a:pPr>
                      <a:r>
                        <a:rPr lang="en-US" sz="950" b="1" kern="0" spc="100" dirty="0">
                          <a:solidFill>
                            <a:srgbClr val="92D050"/>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45 Warm leads</a:t>
                      </a:r>
                      <a:endParaRPr lang="en-US" sz="950" dirty="0">
                        <a:solidFill>
                          <a:srgbClr val="92D050"/>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Area</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Buys from today</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Ardh Al Madina Group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Ras Al Khor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Musajal Fuel</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Rhenus Logistics Gulf</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Jebel Ali / JAFZA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Fuel pump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Emcon Contracting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Al Quoz</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Fuel station + 3rd party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JAIDE Express Freight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Warsan / Int'l City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ADNOC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Al Shamsi Boat Factory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Ajwa Diesel Trading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AFAQ Engineering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Dubai</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GP Golden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000" b="1" dirty="0">
                          <a:solidFill>
                            <a:srgbClr val="242126"/>
                          </a:solidFill>
                          <a:latin typeface="Inter" pitchFamily="34" charset="0"/>
                          <a:ea typeface="Inter" pitchFamily="34" charset="-122"/>
                          <a:cs typeface="Inter" pitchFamily="34" charset="-120"/>
                        </a:rPr>
                        <a:t>Dayal Metal Containers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Ajman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5E7F44"/>
                          </a:solidFill>
                          <a:latin typeface="Inter" pitchFamily="34" charset="0"/>
                          <a:ea typeface="Inter" pitchFamily="34" charset="-122"/>
                          <a:cs typeface="Inter" pitchFamily="34" charset="-120"/>
                        </a:rPr>
                        <a:t>ADNOC (chip)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4"/>
          <p:cNvSpPr txBox="1"/>
          <p:nvPr/>
        </p:nvSpPr>
        <p:spPr>
          <a:xfrm>
            <a:off x="502920" y="5577840"/>
            <a:ext cx="11185855" cy="411480"/>
          </a:xfrm>
          <a:prstGeom prst="rect">
            <a:avLst/>
          </a:prstGeom>
          <a:noFill/>
          <a:ln/>
        </p:spPr>
        <p:txBody>
          <a:bodyPr wrap="square" lIns="0" tIns="0" rIns="0" bIns="0" rtlCol="0" anchor="ctr"/>
          <a:lstStyle/>
          <a:p>
            <a:pPr marL="0" indent="0">
              <a:buNone/>
            </a:pPr>
            <a:r>
              <a:rPr lang="en-US" sz="1150" b="1" dirty="0">
                <a:solidFill>
                  <a:srgbClr val="C91E2C"/>
                </a:solidFill>
                <a:latin typeface="Inter" pitchFamily="34" charset="0"/>
                <a:ea typeface="Inter" pitchFamily="34" charset="-122"/>
                <a:cs typeface="Inter" pitchFamily="34" charset="-120"/>
              </a:rPr>
              <a:t>Full lists for Hot, Warm, Cold, self-generated leads and CAFU-affected accounts are handed over as separate Excel files with this deck.</a:t>
            </a:r>
            <a:endParaRPr lang="en-US" sz="1150" dirty="0"/>
          </a:p>
        </p:txBody>
      </p:sp>
      <p:sp>
        <p:nvSpPr>
          <p:cNvPr id="9" name="Shape 5"/>
          <p:cNvSpPr/>
          <p:nvPr/>
        </p:nvSpPr>
        <p:spPr>
          <a:xfrm>
            <a:off x="502920" y="6144768"/>
            <a:ext cx="11185855" cy="475488"/>
          </a:xfrm>
          <a:prstGeom prst="rect">
            <a:avLst/>
          </a:prstGeom>
          <a:solidFill>
            <a:srgbClr val="FCF3F4"/>
          </a:solidFill>
          <a:ln/>
        </p:spPr>
        <p:txBody>
          <a:bodyPr/>
          <a:p/>
        </p:txBody>
      </p:sp>
      <p:sp>
        <p:nvSpPr>
          <p:cNvPr id="10" name="Shape 6"/>
          <p:cNvSpPr/>
          <p:nvPr/>
        </p:nvSpPr>
        <p:spPr>
          <a:xfrm>
            <a:off x="502920" y="6144768"/>
            <a:ext cx="50292" cy="475488"/>
          </a:xfrm>
          <a:prstGeom prst="rect">
            <a:avLst/>
          </a:prstGeom>
          <a:solidFill>
            <a:srgbClr val="2E7D4F"/>
          </a:solidFill>
          <a:ln/>
        </p:spPr>
        <p:txBody>
          <a:bodyPr/>
          <a:p/>
        </p:txBody>
      </p:sp>
      <p:sp>
        <p:nvSpPr>
          <p:cNvPr id="11" name="Text 7"/>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Eleven of these fourteen drive to a pump or buy from an unverified trader. Each is a direct switching opportunity.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NEW LEADS GENERATED</a:t>
            </a:r>
            <a:endParaRPr lang="en-US" sz="1000" dirty="0"/>
          </a:p>
        </p:txBody>
      </p:sp>
      <p:sp>
        <p:nvSpPr>
          <p:cNvPr id="3" name="Shape 1"/>
          <p:cNvSpPr/>
          <p:nvPr/>
        </p:nvSpPr>
        <p:spPr>
          <a:xfrm>
            <a:off x="502920" y="621792"/>
            <a:ext cx="502920" cy="36576"/>
          </a:xfrm>
          <a:prstGeom prst="rect">
            <a:avLst/>
          </a:prstGeom>
          <a:solidFill>
            <a:srgbClr val="C91E2C"/>
          </a:solidFill>
          <a:ln/>
        </p:spPr>
        <p:txBody>
          <a:bodyPr/>
          <a:p/>
        </p:txBody>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The leads we found ourselves </a:t>
            </a:r>
            <a:r>
              <a:rPr lang="en-US" sz="2700" b="1" dirty="0">
                <a:solidFill>
                  <a:srgbClr val="242126"/>
                </a:solidFill>
                <a:latin typeface="Archivo" pitchFamily="34" charset="0"/>
                <a:ea typeface="Archivo" pitchFamily="34" charset="-122"/>
                <a:cs typeface="Archivo" pitchFamily="34" charset="-120"/>
              </a:rPr>
              <a:t>beat the list on every measure.</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136 companies identified by walking in across all seven weeks, against the 500 companies from the planned list.</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737125973"/>
              </p:ext>
            </p:extLst>
          </p:nvPr>
        </p:nvGraphicFramePr>
        <p:xfrm>
          <a:off x="502920" y="1956816"/>
          <a:ext cx="11183112" cy="1975104"/>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130552">
                  <a:extLst>
                    <a:ext uri="{9D8B030D-6E8A-4147-A177-3AD203B41FA5}">
                      <a16:colId xmlns:a16="http://schemas.microsoft.com/office/drawing/2014/main" val="20005"/>
                    </a:ext>
                  </a:extLst>
                </a:gridCol>
              </a:tblGrid>
              <a:tr h="65836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Lead source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Companies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Green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Green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Dead ends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Dead-end rate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658368">
                <a:tc>
                  <a:txBody>
                    <a:bodyPr/>
                    <a:lstStyle/>
                    <a:p>
                      <a:pPr marL="0" indent="0">
                        <a:buNone/>
                      </a:pPr>
                      <a:r>
                        <a:rPr lang="en-US" sz="1150" b="1" dirty="0">
                          <a:solidFill>
                            <a:schemeClr val="tx1"/>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Self-generated in the field</a:t>
                      </a:r>
                      <a:endParaRPr lang="en-US" sz="115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136</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89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400" b="1" dirty="0">
                          <a:solidFill>
                            <a:srgbClr val="2E7D4F"/>
                          </a:solidFill>
                          <a:latin typeface="Inter" pitchFamily="34" charset="0"/>
                          <a:ea typeface="Inter" pitchFamily="34" charset="-122"/>
                          <a:cs typeface="Inter" pitchFamily="34" charset="-120"/>
                        </a:rPr>
                        <a:t>65.4%</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19</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tc>
                  <a:txBody>
                    <a:bodyPr/>
                    <a:lstStyle/>
                    <a:p>
                      <a:pPr marL="0" indent="0" algn="ctr">
                        <a:buNone/>
                      </a:pPr>
                      <a:r>
                        <a:rPr lang="en-US" sz="1400" b="1" dirty="0">
                          <a:solidFill>
                            <a:srgbClr val="2E7D4F"/>
                          </a:solidFill>
                          <a:latin typeface="Inter" pitchFamily="34" charset="0"/>
                          <a:ea typeface="Inter" pitchFamily="34" charset="-122"/>
                          <a:cs typeface="Inter" pitchFamily="34" charset="-120"/>
                        </a:rPr>
                        <a:t>14.0%</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FCF3F4"/>
                    </a:solidFill>
                  </a:tcPr>
                </a:tc>
                <a:extLst>
                  <a:ext uri="{0D108BD9-81ED-4DB2-BD59-A6C34878D82A}">
                    <a16:rowId xmlns:a16="http://schemas.microsoft.com/office/drawing/2014/main" val="10001"/>
                  </a:ext>
                </a:extLst>
              </a:tr>
              <a:tr h="658368">
                <a:tc>
                  <a:txBody>
                    <a:bodyPr/>
                    <a:lstStyle/>
                    <a:p>
                      <a:pPr marL="0" indent="0">
                        <a:buNone/>
                      </a:pPr>
                      <a:r>
                        <a:rPr lang="en-US" sz="1150" b="1" dirty="0">
                          <a:solidFill>
                            <a:srgbClr val="242126"/>
                          </a:solidFill>
                          <a:latin typeface="Inter" pitchFamily="34" charset="0"/>
                          <a:ea typeface="Inter" pitchFamily="34" charset="-122"/>
                          <a:cs typeface="Inter" pitchFamily="34" charset="-120"/>
                        </a:rPr>
                        <a:t>The planned prospect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b="1" dirty="0">
                          <a:solidFill>
                            <a:srgbClr val="242126"/>
                          </a:solidFill>
                          <a:latin typeface="Inter" pitchFamily="34" charset="0"/>
                          <a:ea typeface="Inter" pitchFamily="34" charset="-122"/>
                          <a:cs typeface="Inter" pitchFamily="34" charset="-120"/>
                        </a:rPr>
                        <a:t>500</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93</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3D4650"/>
                          </a:solidFill>
                          <a:latin typeface="Inter" pitchFamily="34" charset="0"/>
                          <a:ea typeface="Inter" pitchFamily="34" charset="-122"/>
                          <a:cs typeface="Inter" pitchFamily="34" charset="-120"/>
                        </a:rPr>
                        <a:t>18.6%</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150" dirty="0">
                          <a:solidFill>
                            <a:srgbClr val="242126"/>
                          </a:solidFill>
                          <a:latin typeface="Inter" pitchFamily="34" charset="0"/>
                          <a:ea typeface="Inter" pitchFamily="34" charset="-122"/>
                          <a:cs typeface="Inter" pitchFamily="34" charset="-120"/>
                        </a:rPr>
                        <a:t>225</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400" b="1" dirty="0">
                          <a:solidFill>
                            <a:srgbClr val="B33A3A"/>
                          </a:solidFill>
                          <a:latin typeface="Inter" pitchFamily="34" charset="0"/>
                          <a:ea typeface="Inter" pitchFamily="34" charset="-122"/>
                          <a:cs typeface="Inter" pitchFamily="34" charset="-120"/>
                        </a:rPr>
                        <a:t>45.0%</a:t>
                      </a:r>
                      <a:endParaRPr lang="en-US" sz="14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502920" y="3977640"/>
          <a:ext cx="11183112" cy="2286000"/>
        </p:xfrm>
        <a:graphic>
          <a:graphicData uri="http://schemas.openxmlformats.org/drawingml/2006/table">
            <a:tbl>
              <a:tblPr/>
              <a:tblGrid>
                <a:gridCol w="11183112">
                  <a:extLst>
                    <a:ext uri="{9D8B030D-6E8A-4147-A177-3AD203B41FA5}">
                      <a16:colId xmlns:a16="http://schemas.microsoft.com/office/drawing/2014/main" val="20000"/>
                    </a:ext>
                  </a:extLst>
                </a:gridCol>
              </a:tblGrid>
              <a:tr h="45720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What that difference means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42126"/>
                          </a:solidFill>
                          <a:latin typeface="Inter" pitchFamily="34" charset="0"/>
                          <a:ea typeface="Inter" pitchFamily="34" charset="-122"/>
                          <a:cs typeface="Inter" pitchFamily="34" charset="-120"/>
                        </a:rPr>
                        <a:t>3.5x better green rate than the prospect list we were handed.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42126"/>
                          </a:solidFill>
                          <a:latin typeface="Inter" pitchFamily="34" charset="0"/>
                          <a:ea typeface="Inter" pitchFamily="34" charset="-122"/>
                          <a:cs typeface="Inter" pitchFamily="34" charset="-120"/>
                        </a:rPr>
                        <a:t>3.2x lower dead-end rate, because we chose the address ourselves rather than trusting a stale list.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50" b="1" dirty="0">
                          <a:solidFill>
                            <a:srgbClr val="242126"/>
                          </a:solidFill>
                          <a:latin typeface="Inter" pitchFamily="34" charset="0"/>
                          <a:ea typeface="Inter" pitchFamily="34" charset="-122"/>
                          <a:cs typeface="Inter" pitchFamily="34" charset="-120"/>
                        </a:rPr>
                        <a:t>36 of the 136 came from marine and boat building alone, a sector nobody had targeted.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50" b="1" dirty="0">
                          <a:solidFill>
                            <a:srgbClr val="C91E2C"/>
                          </a:solidFill>
                          <a:latin typeface="Inter" pitchFamily="34" charset="0"/>
                          <a:ea typeface="Inter" pitchFamily="34" charset="-122"/>
                          <a:cs typeface="Inter" pitchFamily="34" charset="-120"/>
                        </a:rPr>
                        <a:t>Week 7 alone produced 27 self-generated leads, our largest weekly batch, and still beat the list on every measure.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4"/>
          <p:cNvSpPr/>
          <p:nvPr/>
        </p:nvSpPr>
        <p:spPr>
          <a:xfrm>
            <a:off x="502920" y="6144768"/>
            <a:ext cx="11185855" cy="475488"/>
          </a:xfrm>
          <a:prstGeom prst="rect">
            <a:avLst/>
          </a:prstGeom>
          <a:solidFill>
            <a:srgbClr val="FCF3F4"/>
          </a:solidFill>
          <a:ln/>
        </p:spPr>
        <p:txBody>
          <a:bodyPr/>
          <a:p/>
        </p:txBody>
      </p:sp>
      <p:sp>
        <p:nvSpPr>
          <p:cNvPr id="9" name="Shape 5"/>
          <p:cNvSpPr/>
          <p:nvPr/>
        </p:nvSpPr>
        <p:spPr>
          <a:xfrm>
            <a:off x="502920" y="6144768"/>
            <a:ext cx="50292" cy="475488"/>
          </a:xfrm>
          <a:prstGeom prst="rect">
            <a:avLst/>
          </a:prstGeom>
          <a:solidFill>
            <a:srgbClr val="2E7D4F"/>
          </a:solidFill>
          <a:ln/>
        </p:spPr>
        <p:txBody>
          <a:bodyPr/>
          <a:p/>
        </p:txBody>
      </p:sp>
      <p:sp>
        <p:nvSpPr>
          <p:cNvPr id="10"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Self-generated leads carry the largest accounts in the entire book, including RP Group.</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F1"/>
        </a:solidFill>
        <a:effectLst/>
      </p:bgPr>
    </p:bg>
    <p:spTree>
      <p:nvGrpSpPr>
        <p:cNvPr id="1" name=""/>
        <p:cNvGrpSpPr/>
        <p:nvPr/>
      </p:nvGrpSpPr>
      <p:grpSpPr>
        <a:xfrm>
          <a:off x="0" y="0"/>
          <a:ext cx="0" cy="0"/>
          <a:chOff x="0" y="0"/>
          <a:chExt cx="0" cy="0"/>
        </a:xfrm>
      </p:grpSpPr>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3000" b="1" dirty="0">
                <a:solidFill>
                  <a:srgbClr val="242126"/>
                </a:solidFill>
                <a:latin typeface="Archivo" pitchFamily="34" charset="0"/>
                <a:ea typeface="Archivo" pitchFamily="34" charset="-122"/>
                <a:cs typeface="Archivo" pitchFamily="34" charset="-120"/>
              </a:rPr>
              <a:t>Top five findings, and what each means for FILLIT.</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3112" cy="4828032"/>
        </p:xfrm>
        <a:graphic>
          <a:graphicData uri="http://schemas.openxmlformats.org/drawingml/2006/table">
            <a:tbl>
              <a:tblPr/>
              <a:tblGrid>
                <a:gridCol w="6858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6473952">
                  <a:extLst>
                    <a:ext uri="{9D8B030D-6E8A-4147-A177-3AD203B41FA5}">
                      <a16:colId xmlns:a16="http://schemas.microsoft.com/office/drawing/2014/main" val="20002"/>
                    </a:ext>
                  </a:extLst>
                </a:gridCol>
              </a:tblGrid>
              <a:tr h="804672">
                <a:tc>
                  <a:txBody>
                    <a:bodyPr/>
                    <a:lstStyle/>
                    <a:p>
                      <a:pPr marL="0" indent="0" algn="ctr">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Finding</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Field evidence, and what it means for FILLIT's growth</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01</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The demand is real, sizeable and already named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72 qualified companies report 814,499 litres a month (about AED 42M a year), excluding RP Group, which alone reports 4.5M litres a month. FILLIT has a named revenue pipeline, not a market estimate.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02</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The biggest volumes sit with the slowest buyers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Excluding RP Group, 58% of measured volume sits in Cold companies, averaging 32,551 L a month against 15,856 L for Hot. Growth needs key-account management, not just fast follow-ups.</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03</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FILLIT wins on service, because price is fixed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36 companies still drive to a pump and 39 buy from unverified traders. Diesel is regulated at AED 4.30 a litre, so the objections we heard were reliability, quality and access, not price.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04</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A competitor has left the door open</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20 companies raised CAFU unprompted, 16 negatively, and every one of them uses diesel. This is the fastest share gain available, with no price war required.</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05</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b="1" dirty="0">
                          <a:solidFill>
                            <a:srgbClr val="242126"/>
                          </a:solidFill>
                          <a:latin typeface="Inter" pitchFamily="34" charset="0"/>
                          <a:ea typeface="Inter" pitchFamily="34" charset="-122"/>
                          <a:cs typeface="Inter" pitchFamily="34" charset="-120"/>
                        </a:rPr>
                        <a:t>Factories and site equipment are the sweet spot</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50" dirty="0">
                          <a:solidFill>
                            <a:srgbClr val="242126"/>
                          </a:solidFill>
                          <a:latin typeface="Inter" pitchFamily="34" charset="0"/>
                          <a:ea typeface="Inter" pitchFamily="34" charset="-122"/>
                          <a:cs typeface="Inter" pitchFamily="34" charset="-120"/>
                        </a:rPr>
                        <a:t>Metals converted at 67%, Al Sajaa at 84.6% and DIC with DIP at 45%. 76 companies raised generator, forklift or machinery refuelling, which no fuel station can serve.</a:t>
                      </a:r>
                      <a:endParaRPr lang="en-US" sz="11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F1"/>
        </a:solidFill>
        <a:effectLst/>
      </p:bgPr>
    </p:bg>
    <p:spTree>
      <p:nvGrpSpPr>
        <p:cNvPr id="1" name=""/>
        <p:cNvGrpSpPr/>
        <p:nvPr/>
      </p:nvGrpSpPr>
      <p:grpSpPr>
        <a:xfrm>
          <a:off x="0" y="0"/>
          <a:ext cx="0" cy="0"/>
          <a:chOff x="0" y="0"/>
          <a:chExt cx="0" cy="0"/>
        </a:xfrm>
      </p:grpSpPr>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3000" b="1" dirty="0">
                <a:solidFill>
                  <a:srgbClr val="242126"/>
                </a:solidFill>
                <a:latin typeface="Archivo" pitchFamily="34" charset="0"/>
                <a:ea typeface="Archivo" pitchFamily="34" charset="-122"/>
                <a:cs typeface="Archivo" pitchFamily="34" charset="-120"/>
              </a:rPr>
              <a:t>Top five recommendations to grow FILLIT.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11183112" cy="4828032"/>
        </p:xfrm>
        <a:graphic>
          <a:graphicData uri="http://schemas.openxmlformats.org/drawingml/2006/table">
            <a:tbl>
              <a:tblPr/>
              <a:tblGrid>
                <a:gridCol w="685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50749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804672">
                <a:tc>
                  <a:txBody>
                    <a:bodyPr/>
                    <a:lstStyle/>
                    <a:p>
                      <a:pPr marL="0" indent="0" algn="ctr">
                        <a:buNone/>
                      </a:pP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Recommendation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Why, from the field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Target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01</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42126"/>
                          </a:solidFill>
                          <a:latin typeface="Inter" pitchFamily="34" charset="0"/>
                          <a:ea typeface="Inter" pitchFamily="34" charset="-122"/>
                          <a:cs typeface="Inter" pitchFamily="34" charset="-120"/>
                        </a:rPr>
                        <a:t>Turn the 72 qualified leads into first orders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27 Hot leads asked for a quote, sample or visit. Their measured demand is 814,499 L a month.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First orders from 10 accounts in 60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02</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42126"/>
                          </a:solidFill>
                          <a:latin typeface="Inter" pitchFamily="34" charset="0"/>
                          <a:ea typeface="Inter" pitchFamily="34" charset="-122"/>
                          <a:cs typeface="Inter" pitchFamily="34" charset="-120"/>
                        </a:rPr>
                        <a:t>Launch a Site Equipment Fuelling offer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76 companies need forklifts, generators or plant refuelled on site, a need no station can meet.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15 paid trials in 90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03</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42126"/>
                          </a:solidFill>
                          <a:latin typeface="Inter" pitchFamily="34" charset="0"/>
                          <a:ea typeface="Inter" pitchFamily="34" charset="-122"/>
                          <a:cs typeface="Inter" pitchFamily="34" charset="-120"/>
                        </a:rPr>
                        <a:t>Win the accounts CAFU has lost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20 identified companies, 16 of them unhappy, already buy delivered diesel and want a reliable supplier.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8 switched accounts in 90 days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04</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42126"/>
                          </a:solidFill>
                          <a:latin typeface="Inter" pitchFamily="34" charset="0"/>
                          <a:ea typeface="Inter" pitchFamily="34" charset="-122"/>
                          <a:cs typeface="Inter" pitchFamily="34" charset="-120"/>
                        </a:rPr>
                        <a:t>Put the top 10 Cold accounts under a key-account manager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Cold holds 58% of measured volume. Two conversions at the Cold average add about 65,000 L a month.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2 contracts, about 65,000 L a month</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804672">
                <a:tc>
                  <a:txBody>
                    <a:bodyPr/>
                    <a:lstStyle/>
                    <a:p>
                      <a:pPr marL="0" indent="0" algn="ctr">
                        <a:buNone/>
                      </a:pPr>
                      <a:r>
                        <a:rPr lang="en-US" sz="1500" b="1" dirty="0">
                          <a:solidFill>
                            <a:srgbClr val="C91E2C"/>
                          </a:solidFill>
                          <a:latin typeface="Inter" pitchFamily="34" charset="0"/>
                          <a:ea typeface="Inter" pitchFamily="34" charset="-122"/>
                          <a:cs typeface="Inter" pitchFamily="34" charset="-120"/>
                        </a:rPr>
                        <a:t>05</a:t>
                      </a:r>
                      <a:endParaRPr lang="en-US" sz="15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42126"/>
                          </a:solidFill>
                          <a:latin typeface="Inter" pitchFamily="34" charset="0"/>
                          <a:ea typeface="Inter" pitchFamily="34" charset="-122"/>
                          <a:cs typeface="Inter" pitchFamily="34" charset="-120"/>
                        </a:rPr>
                        <a:t>Reposition FILLIT on service, backed by content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Price is regulated, so reliability, 10ppm quality and no minimum order must be the message. LinkedIn sits near 350 followers.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1,000 followers and 25 inbound leads a quarter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F1"/>
        </a:solidFill>
        <a:effectLst/>
      </p:bgPr>
    </p:bg>
    <p:spTree>
      <p:nvGrpSpPr>
        <p:cNvPr id="1" name=""/>
        <p:cNvGrpSpPr/>
        <p:nvPr/>
      </p:nvGrpSpPr>
      <p:grpSpPr>
        <a:xfrm>
          <a:off x="0" y="0"/>
          <a:ext cx="0" cy="0"/>
          <a:chOff x="0" y="0"/>
          <a:chExt cx="0" cy="0"/>
        </a:xfrm>
      </p:grpSpPr>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3000" b="1" dirty="0">
                <a:solidFill>
                  <a:srgbClr val="242126"/>
                </a:solidFill>
                <a:latin typeface="Archivo" pitchFamily="34" charset="0"/>
                <a:ea typeface="Archivo" pitchFamily="34" charset="-122"/>
                <a:cs typeface="Archivo" pitchFamily="34" charset="-120"/>
              </a:rPr>
              <a:t>Ready to implement this month, and the business impact.</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3233372626"/>
              </p:ext>
            </p:extLst>
          </p:nvPr>
        </p:nvGraphicFramePr>
        <p:xfrm>
          <a:off x="502920" y="1645920"/>
          <a:ext cx="11183112" cy="4096512"/>
        </p:xfrm>
        <a:graphic>
          <a:graphicData uri="http://schemas.openxmlformats.org/drawingml/2006/table">
            <a:tbl>
              <a:tblPr/>
              <a:tblGrid>
                <a:gridCol w="338328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867912">
                  <a:extLst>
                    <a:ext uri="{9D8B030D-6E8A-4147-A177-3AD203B41FA5}">
                      <a16:colId xmlns:a16="http://schemas.microsoft.com/office/drawing/2014/main" val="20002"/>
                    </a:ext>
                  </a:extLst>
                </a:gridCol>
              </a:tblGrid>
              <a:tr h="585216">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Ready to implement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First step</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Expected business impact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585216">
                <a:tc>
                  <a:txBody>
                    <a:bodyPr/>
                    <a:lstStyle/>
                    <a:p>
                      <a:pPr marL="0" indent="0">
                        <a:buNone/>
                      </a:pPr>
                      <a:r>
                        <a:rPr lang="en-US" sz="1100" b="1" dirty="0">
                          <a:solidFill>
                            <a:srgbClr val="242126"/>
                          </a:solidFill>
                          <a:latin typeface="Inter" pitchFamily="34" charset="0"/>
                          <a:ea typeface="Inter" pitchFamily="34" charset="-122"/>
                          <a:cs typeface="Inter" pitchFamily="34" charset="-120"/>
                        </a:rPr>
                        <a:t>Quote pack for the 27 Hot leads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Price, delivery terms, 10ppm certificate and a sample invoice sent to each named contact.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27 live negotiations against 317,123 L a month of measured Hot demand.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585216">
                <a:tc>
                  <a:txBody>
                    <a:bodyPr/>
                    <a:lstStyle/>
                    <a:p>
                      <a:pPr marL="0" indent="0">
                        <a:buNone/>
                      </a:pPr>
                      <a:r>
                        <a:rPr lang="en-US" sz="1100" b="1" dirty="0">
                          <a:solidFill>
                            <a:srgbClr val="242126"/>
                          </a:solidFill>
                          <a:latin typeface="Inter" pitchFamily="34" charset="0"/>
                          <a:ea typeface="Inter" pitchFamily="34" charset="-122"/>
                          <a:cs typeface="Inter" pitchFamily="34" charset="-120"/>
                        </a:rPr>
                        <a:t>CAFU switch offer</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One-page offer plus a call list of the 20 affected companies.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Share gained from a competitor, without discounting.</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585216">
                <a:tc>
                  <a:txBody>
                    <a:bodyPr/>
                    <a:lstStyle/>
                    <a:p>
                      <a:pPr marL="0" indent="0">
                        <a:buNone/>
                      </a:pPr>
                      <a:r>
                        <a:rPr lang="en-US" sz="1100" b="1" dirty="0">
                          <a:solidFill>
                            <a:srgbClr val="242126"/>
                          </a:solidFill>
                          <a:latin typeface="Inter" pitchFamily="34" charset="0"/>
                          <a:ea typeface="Inter" pitchFamily="34" charset="-122"/>
                          <a:cs typeface="Inter" pitchFamily="34" charset="-120"/>
                        </a:rPr>
                        <a:t>Site Equipment Fuelling pilot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Free first on-site fill for 5 forklift or generator sites in Al Sajaa and DIC.</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A proven, referenceable use case stations cannot copy.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585216">
                <a:tc>
                  <a:txBody>
                    <a:bodyPr/>
                    <a:lstStyle/>
                    <a:p>
                      <a:pPr marL="0" indent="0">
                        <a:buNone/>
                      </a:pPr>
                      <a:r>
                        <a:rPr lang="en-US" sz="1100" b="1" dirty="0">
                          <a:solidFill>
                            <a:srgbClr val="242126"/>
                          </a:solidFill>
                          <a:latin typeface="Inter" pitchFamily="34" charset="0"/>
                          <a:ea typeface="Inter" pitchFamily="34" charset="-122"/>
                          <a:cs typeface="Inter" pitchFamily="34" charset="-120"/>
                        </a:rPr>
                        <a:t>Key accounts for the top 10 Cold</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Named owner, quarterly review and credit terms for each account.</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Access to a 1,139,293 L a month pool of larger buyers.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585216">
                <a:tc>
                  <a:txBody>
                    <a:bodyPr/>
                    <a:lstStyle/>
                    <a:p>
                      <a:pPr marL="0" indent="0">
                        <a:buNone/>
                      </a:pPr>
                      <a:r>
                        <a:rPr lang="en-US" sz="1100" b="1" dirty="0">
                          <a:solidFill>
                            <a:srgbClr val="242126"/>
                          </a:solidFill>
                          <a:latin typeface="Inter" pitchFamily="34" charset="0"/>
                          <a:ea typeface="Inter" pitchFamily="34" charset="-122"/>
                          <a:cs typeface="Inter" pitchFamily="34" charset="-120"/>
                        </a:rPr>
                        <a:t>Free-zone access</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File access passes for JAFZA, Hamriyah and DIC.</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Unlocks 100 blocked companies, including 42 in JAFZA.</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585216">
                <a:tc>
                  <a:txBody>
                    <a:bodyPr/>
                    <a:lstStyle/>
                    <a:p>
                      <a:pPr marL="0" indent="0">
                        <a:buNone/>
                      </a:pPr>
                      <a:r>
                        <a:rPr lang="en-US" sz="1100" b="1" dirty="0">
                          <a:solidFill>
                            <a:schemeClr val="tx1"/>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LinkedIn and white paper launch</a:t>
                      </a:r>
                      <a:endParaRPr lang="en-US" sz="1100" dirty="0">
                        <a:solidFill>
                          <a:schemeClr val="tx1"/>
                        </a:solidFill>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dirty="0">
                          <a:solidFill>
                            <a:srgbClr val="242126"/>
                          </a:solidFill>
                          <a:latin typeface="Inter" pitchFamily="34" charset="0"/>
                          <a:ea typeface="Inter" pitchFamily="34" charset="-122"/>
                          <a:cs typeface="Inter" pitchFamily="34" charset="-120"/>
                        </a:rPr>
                        <a:t>Publish Week 1 creative and gate the white paper behind a short form.</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100" b="1" dirty="0">
                          <a:solidFill>
                            <a:srgbClr val="2E7D4F"/>
                          </a:solidFill>
                          <a:latin typeface="Inter" pitchFamily="34" charset="0"/>
                          <a:ea typeface="Inter" pitchFamily="34" charset="-122"/>
                          <a:cs typeface="Inter" pitchFamily="34" charset="-120"/>
                        </a:rPr>
                        <a:t>Inbound leads and brand recall from about 350 followers today.</a:t>
                      </a:r>
                      <a:endParaRPr lang="en-US" sz="11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502920" y="6144768"/>
            <a:ext cx="11185855" cy="475488"/>
          </a:xfrm>
          <a:prstGeom prst="rect">
            <a:avLst/>
          </a:prstGeom>
          <a:solidFill>
            <a:srgbClr val="FCF3F4"/>
          </a:solidFill>
          <a:ln/>
        </p:spPr>
        <p:txBody>
          <a:bodyPr/>
          <a:p/>
        </p:txBody>
      </p:sp>
      <p:sp>
        <p:nvSpPr>
          <p:cNvPr id="7" name="Shape 4"/>
          <p:cNvSpPr/>
          <p:nvPr/>
        </p:nvSpPr>
        <p:spPr>
          <a:xfrm>
            <a:off x="502920" y="6144768"/>
            <a:ext cx="50292" cy="475488"/>
          </a:xfrm>
          <a:prstGeom prst="rect">
            <a:avLst/>
          </a:prstGeom>
          <a:solidFill>
            <a:srgbClr val="2E7D4F"/>
          </a:solidFill>
          <a:ln/>
        </p:spPr>
        <p:txBody>
          <a:bodyPr/>
          <a:p/>
        </p:txBody>
      </p:sp>
      <p:sp>
        <p:nvSpPr>
          <p:cNvPr id="8" name="Text 5"/>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Every action uses assets already built. Qualified demand alone is worth about AED 42M a year.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F1"/>
        </a:solidFill>
        <a:effectLst/>
      </p:bgPr>
    </p:bg>
    <p:spTree>
      <p:nvGrpSpPr>
        <p:cNvPr id="1" name=""/>
        <p:cNvGrpSpPr/>
        <p:nvPr/>
      </p:nvGrpSpPr>
      <p:grpSpPr>
        <a:xfrm>
          <a:off x="0" y="0"/>
          <a:ext cx="0" cy="0"/>
          <a:chOff x="0" y="0"/>
          <a:chExt cx="0" cy="0"/>
        </a:xfrm>
      </p:grpSpPr>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The growth plan: three months, then months four to six.</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One plan across sales, marketing and operations. Every action traces back to a field finding.</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4114800"/>
        </p:xfrm>
        <a:graphic>
          <a:graphicData uri="http://schemas.openxmlformats.org/drawingml/2006/table">
            <a:tbl>
              <a:tblPr/>
              <a:tblGrid>
                <a:gridCol w="1600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468112">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82296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Window</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Goal</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Actions across sales, marketing and operations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KPI to track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822960">
                <a:tc>
                  <a:txBody>
                    <a:bodyPr/>
                    <a:lstStyle/>
                    <a:p>
                      <a:pPr marL="0" indent="0">
                        <a:buNone/>
                      </a:pPr>
                      <a:r>
                        <a:rPr lang="en-US" sz="1050" b="1" dirty="0">
                          <a:solidFill>
                            <a:srgbClr val="2E7D4F"/>
                          </a:solidFill>
                          <a:latin typeface="Inter" pitchFamily="34" charset="0"/>
                          <a:ea typeface="Inter" pitchFamily="34" charset="-122"/>
                          <a:cs typeface="Inter" pitchFamily="34" charset="-120"/>
                        </a:rPr>
                        <a:t>Days 1 to 30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Win the warm pipeline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Sales: quote all 27 Hot leads, call the 45 Warm, send the CAFU switch offer. Marketing: publish LinkedIn Weeks 1 and 2 and the white paper. Ops: add a pre-visit address check.</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27 quotes sent, 5 first orders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1"/>
                  </a:ext>
                </a:extLst>
              </a:tr>
              <a:tr h="822960">
                <a:tc>
                  <a:txBody>
                    <a:bodyPr/>
                    <a:lstStyle/>
                    <a:p>
                      <a:pPr marL="0" indent="0">
                        <a:buNone/>
                      </a:pPr>
                      <a:r>
                        <a:rPr lang="en-US" sz="1050" b="1" dirty="0">
                          <a:solidFill>
                            <a:srgbClr val="41616F"/>
                          </a:solidFill>
                          <a:latin typeface="Inter" pitchFamily="34" charset="0"/>
                          <a:ea typeface="Inter" pitchFamily="34" charset="-122"/>
                          <a:cs typeface="Inter" pitchFamily="34" charset="-120"/>
                        </a:rPr>
                        <a:t>Days 31 to 60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Expand where demand concentrates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Sales: assign the top 10 Cold accounts, sweep Al Sajaa, DIC and DIP. Marketing: Weeks 3 and 4 plus a forklift case study. Ops: file free-zone passes.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10 key accounts, 10 equipment trials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050" b="1" dirty="0">
                          <a:solidFill>
                            <a:srgbClr val="B8891F"/>
                          </a:solidFill>
                          <a:latin typeface="Inter" pitchFamily="34" charset="0"/>
                          <a:ea typeface="Inter" pitchFamily="34" charset="-122"/>
                          <a:cs typeface="Inter" pitchFamily="34" charset="-120"/>
                        </a:rPr>
                        <a:t>Days 61 to 90</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Make growth repeatable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Move all 636 companies into a CRM with outcome tracking. Score leads on volume as well as interest. Publish a UAE diesel buyer report to drive inbound demand.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Conversion rate by sector and zone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822960">
                <a:tc>
                  <a:txBody>
                    <a:bodyPr/>
                    <a:lstStyle/>
                    <a:p>
                      <a:pPr marL="0" indent="0">
                        <a:buNone/>
                      </a:pPr>
                      <a:r>
                        <a:rPr lang="en-US" sz="1050" b="1" dirty="0">
                          <a:solidFill>
                            <a:srgbClr val="3D4650"/>
                          </a:solidFill>
                          <a:latin typeface="Inter" pitchFamily="34" charset="0"/>
                          <a:ea typeface="Inter" pitchFamily="34" charset="-122"/>
                          <a:cs typeface="Inter" pitchFamily="34" charset="-120"/>
                        </a:rPr>
                        <a:t>Months 4 to 6</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b="1" dirty="0">
                          <a:solidFill>
                            <a:srgbClr val="242126"/>
                          </a:solidFill>
                          <a:latin typeface="Inter" pitchFamily="34" charset="0"/>
                          <a:ea typeface="Inter" pitchFamily="34" charset="-122"/>
                          <a:cs typeface="Inter" pitchFamily="34" charset="-120"/>
                        </a:rPr>
                        <a:t>Scale what converts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Enter JAFZA with passes, open Hamriyah and Umm Al Quwain, launch a customer referral offer, and review credit terms for key accounts.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tc>
                  <a:txBody>
                    <a:bodyPr/>
                    <a:lstStyle/>
                    <a:p>
                      <a:pPr marL="0" indent="0">
                        <a:buNone/>
                      </a:pPr>
                      <a:r>
                        <a:rPr lang="en-US" sz="1050" dirty="0">
                          <a:solidFill>
                            <a:srgbClr val="242126"/>
                          </a:solidFill>
                          <a:latin typeface="Inter" pitchFamily="34" charset="0"/>
                          <a:ea typeface="Inter" pitchFamily="34" charset="-122"/>
                          <a:cs typeface="Inter" pitchFamily="34" charset="-120"/>
                        </a:rPr>
                        <a:t>Litres a month under contract, 1,000 followers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4"/>
                  </a:ext>
                </a:extLst>
              </a:tr>
            </a:tbl>
          </a:graphicData>
        </a:graphic>
      </p:graphicFrame>
      <p:sp>
        <p:nvSpPr>
          <p:cNvPr id="7" name="Shape 4"/>
          <p:cNvSpPr/>
          <p:nvPr/>
        </p:nvSpPr>
        <p:spPr>
          <a:xfrm>
            <a:off x="502920" y="6144768"/>
            <a:ext cx="11185855" cy="475488"/>
          </a:xfrm>
          <a:prstGeom prst="rect">
            <a:avLst/>
          </a:prstGeom>
          <a:solidFill>
            <a:srgbClr val="FCF3F4"/>
          </a:solidFill>
          <a:ln/>
        </p:spPr>
        <p:txBody>
          <a:bodyPr/>
          <a:p/>
        </p:txBody>
      </p:sp>
      <p:sp>
        <p:nvSpPr>
          <p:cNvPr id="8" name="Shape 5"/>
          <p:cNvSpPr/>
          <p:nvPr/>
        </p:nvSpPr>
        <p:spPr>
          <a:xfrm>
            <a:off x="502920" y="6144768"/>
            <a:ext cx="50292" cy="475488"/>
          </a:xfrm>
          <a:prstGeom prst="rect">
            <a:avLst/>
          </a:prstGeom>
          <a:solidFill>
            <a:srgbClr val="2E7D4F"/>
          </a:solidFill>
          <a:ln/>
        </p:spPr>
        <p:txBody>
          <a:bodyPr/>
          <a:p/>
        </p:txBody>
      </p:sp>
      <p:sp>
        <p:nvSpPr>
          <p:cNvPr id="9" name="Text 6"/>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182 confirmed diesel users, 72 qualified, 20 leaving a competitor. The plan turns them into contracted litres.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55355"/>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SOCIAL MEDIA AND CONTENT WORK</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A four-week </a:t>
            </a:r>
            <a:r>
              <a:rPr lang="en-US" sz="2700" b="1" dirty="0">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LinkedIn plan</a:t>
            </a:r>
            <a:r>
              <a:rPr lang="en-US" sz="2700" b="1" dirty="0">
                <a:solidFill>
                  <a:srgbClr val="242126"/>
                </a:solidFill>
                <a:latin typeface="Archivo" pitchFamily="34" charset="0"/>
                <a:ea typeface="Archivo" pitchFamily="34" charset="-122"/>
                <a:cs typeface="Archivo" pitchFamily="34" charset="-120"/>
              </a:rPr>
              <a:t>, written post by post.</a:t>
            </a:r>
            <a:endParaRPr lang="en-US" sz="2700" dirty="0"/>
          </a:p>
        </p:txBody>
      </p:sp>
      <p:sp>
        <p:nvSpPr>
          <p:cNvPr id="5" name="Text 3"/>
          <p:cNvSpPr txBox="1"/>
          <p:nvPr/>
        </p:nvSpPr>
        <p:spPr>
          <a:xfrm>
            <a:off x="502920" y="1389888"/>
            <a:ext cx="10820095" cy="475488"/>
          </a:xfrm>
          <a:prstGeom prst="rect">
            <a:avLst/>
          </a:prstGeom>
          <a:noFill/>
          <a:ln/>
        </p:spPr>
        <p:txBody>
          <a:bodyPr wrap="square" lIns="0" tIns="0" rIns="0" bIns="0" rtlCol="0" anchor="t"/>
          <a:lstStyle/>
          <a:p>
            <a:pPr marL="0" indent="0">
              <a:lnSpc>
                <a:spcPts val="1800"/>
              </a:lnSpc>
              <a:buNone/>
            </a:pPr>
            <a:r>
              <a:rPr lang="en-US" sz="1250" dirty="0">
                <a:solidFill>
                  <a:srgbClr val="3D4650"/>
                </a:solidFill>
                <a:latin typeface="Inter" pitchFamily="34" charset="0"/>
                <a:ea typeface="Inter" pitchFamily="34" charset="-122"/>
                <a:cs typeface="Inter" pitchFamily="34" charset="-120"/>
              </a:rPr>
              <a:t>28 posts, all 10 content pillars, 13 formats. Week 1 creative is designed and ready. Built on this field research.</a:t>
            </a:r>
            <a:endParaRPr lang="en-US" sz="12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956816"/>
          <a:ext cx="11183112" cy="3657600"/>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971032">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73152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Week</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Objective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Posts written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ctr">
                        <a:buNone/>
                      </a:pPr>
                      <a:r>
                        <a:rPr lang="en-US" sz="950" b="1" kern="0" spc="100" dirty="0">
                          <a:solidFill>
                            <a:srgbClr val="FFFFFF"/>
                          </a:solidFill>
                          <a:latin typeface="Inter" pitchFamily="34" charset="0"/>
                          <a:ea typeface="Inter" pitchFamily="34" charset="-122"/>
                          <a:cs typeface="Inter" pitchFamily="34" charset="-120"/>
                        </a:rPr>
                        <a:t>Status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731520">
                <a:tc>
                  <a:txBody>
                    <a:bodyPr/>
                    <a:lstStyle/>
                    <a:p>
                      <a:pPr marL="0" indent="0">
                        <a:buNone/>
                      </a:pPr>
                      <a:r>
                        <a:rPr lang="en-US" sz="1000" b="1" dirty="0">
                          <a:solidFill>
                            <a:srgbClr val="C91E2C"/>
                          </a:solidFill>
                          <a:latin typeface="Inter" pitchFamily="34" charset="0"/>
                          <a:ea typeface="Inter" pitchFamily="34" charset="-122"/>
                          <a:cs typeface="Inter" pitchFamily="34" charset="-120"/>
                        </a:rPr>
                        <a:t>Week 1</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42126"/>
                          </a:solidFill>
                          <a:latin typeface="Inter" pitchFamily="34" charset="0"/>
                          <a:ea typeface="Inter" pitchFamily="34" charset="-122"/>
                          <a:cs typeface="Inter" pitchFamily="34" charset="-120"/>
                        </a:rPr>
                        <a:t>Frame the problem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Poll on the biggest refuelling bottleneck. Carousel on dead mileage and idle wages. Generator damage post. White paper launch with a comment-gated CTA.</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00" b="1" dirty="0">
                          <a:solidFill>
                            <a:srgbClr val="2E7D4F"/>
                          </a:solidFill>
                          <a:latin typeface="Inter" pitchFamily="34" charset="0"/>
                          <a:ea typeface="Inter" pitchFamily="34" charset="-122"/>
                          <a:cs typeface="Inter" pitchFamily="34" charset="-120"/>
                        </a:rPr>
                        <a:t>Creative complete,</a:t>
                      </a:r>
                      <a:endParaRPr lang="en-US" sz="1000" dirty="0">
                        <a:latin typeface="Inter" charset="0"/>
                        <a:ea typeface="Inter" charset="0"/>
                        <a:cs typeface="Inter" charset="0"/>
                      </a:endParaRPr>
                    </a:p>
                    <a:p>
                      <a:pPr marL="0" indent="0" algn="ctr">
                        <a:buNone/>
                      </a:pPr>
                      <a:r>
                        <a:rPr lang="en-US" sz="1000" b="1" dirty="0">
                          <a:solidFill>
                            <a:srgbClr val="2E7D4F"/>
                          </a:solidFill>
                          <a:latin typeface="Inter" pitchFamily="34" charset="0"/>
                          <a:ea typeface="Inter" pitchFamily="34" charset="-122"/>
                          <a:cs typeface="Inter" pitchFamily="34" charset="-120"/>
                        </a:rPr>
                        <a:t>10 images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000" b="1" dirty="0">
                          <a:solidFill>
                            <a:srgbClr val="C91E2C"/>
                          </a:solidFill>
                          <a:latin typeface="Inter" pitchFamily="34" charset="0"/>
                          <a:ea typeface="Inter" pitchFamily="34" charset="-122"/>
                          <a:cs typeface="Inter" pitchFamily="34" charset="-120"/>
                        </a:rPr>
                        <a:t>Week 2</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42126"/>
                          </a:solidFill>
                          <a:latin typeface="Inter" pitchFamily="34" charset="0"/>
                          <a:ea typeface="Inter" pitchFamily="34" charset="-122"/>
                          <a:cs typeface="Inter" pitchFamily="34" charset="-120"/>
                        </a:rPr>
                        <a:t>Prove the difference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10ppm against standard fuel in a Euro 5/6 engine. Night refuelling carousel. Fuel as a service. The drivers behind the deliveries.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000" b="1" dirty="0">
                          <a:solidFill>
                            <a:srgbClr val="C91E2C"/>
                          </a:solidFill>
                          <a:latin typeface="Inter" pitchFamily="34" charset="0"/>
                          <a:ea typeface="Inter" pitchFamily="34" charset="-122"/>
                          <a:cs typeface="Inter" pitchFamily="34" charset="-120"/>
                        </a:rPr>
                        <a:t>Week 3</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42126"/>
                          </a:solidFill>
                          <a:latin typeface="Inter" pitchFamily="34" charset="0"/>
                          <a:ea typeface="Inter" pitchFamily="34" charset="-122"/>
                          <a:cs typeface="Inter" pitchFamily="34" charset="-120"/>
                        </a:rPr>
                        <a:t>Show the system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Free dead-mileage and ROI audit for 10 fleets. Paper logbooks post. The five-step delivery workflow. The eight-point continuity checklist.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1000" b="1" dirty="0">
                          <a:solidFill>
                            <a:srgbClr val="C91E2C"/>
                          </a:solidFill>
                          <a:latin typeface="Inter" pitchFamily="34" charset="0"/>
                          <a:ea typeface="Inter" pitchFamily="34" charset="-122"/>
                          <a:cs typeface="Inter" pitchFamily="34" charset="-120"/>
                        </a:rPr>
                        <a:t>Week 4</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b="1" dirty="0">
                          <a:solidFill>
                            <a:srgbClr val="242126"/>
                          </a:solidFill>
                          <a:latin typeface="Inter" pitchFamily="34" charset="0"/>
                          <a:ea typeface="Inter" pitchFamily="34" charset="-122"/>
                          <a:cs typeface="Inter" pitchFamily="34" charset="-120"/>
                        </a:rPr>
                        <a:t>Convert</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Resilience by design. 100 litres to 5 million. Emergency top-ups. The dispatch team. One month on from the white paper.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lgn="ctr">
                        <a:buNone/>
                      </a:pPr>
                      <a:r>
                        <a:rPr lang="en-US" sz="1000" b="1" dirty="0">
                          <a:solidFill>
                            <a:srgbClr val="2E7D4F"/>
                          </a:solidFill>
                          <a:latin typeface="Inter" pitchFamily="34" charset="0"/>
                          <a:ea typeface="Inter" pitchFamily="34" charset="-122"/>
                          <a:cs typeface="Inter" pitchFamily="34" charset="-120"/>
                        </a:rPr>
                        <a:t>Full copy written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txBox="1"/>
          <p:nvPr/>
        </p:nvSpPr>
        <p:spPr>
          <a:xfrm>
            <a:off x="502920" y="5806440"/>
            <a:ext cx="11185855" cy="502920"/>
          </a:xfrm>
          <a:prstGeom prst="rect">
            <a:avLst/>
          </a:prstGeom>
          <a:noFill/>
          <a:ln/>
        </p:spPr>
        <p:txBody>
          <a:bodyPr wrap="square" lIns="0" tIns="0" rIns="0" bIns="0" rtlCol="0" anchor="ctr"/>
          <a:lstStyle/>
          <a:p>
            <a:pPr marL="0" indent="0">
              <a:lnSpc>
                <a:spcPts val="1600"/>
              </a:lnSpc>
              <a:buNone/>
            </a:pPr>
            <a:r>
              <a:rPr lang="en-US" sz="1050" dirty="0">
                <a:solidFill>
                  <a:srgbClr val="3D4650"/>
                </a:solidFill>
                <a:latin typeface="Inter" pitchFamily="34" charset="0"/>
                <a:ea typeface="Inter" pitchFamily="34" charset="-122"/>
                <a:cs typeface="Inter" pitchFamily="34" charset="-120"/>
              </a:rPr>
              <a:t>Engagement rules that shaped it:   links go in the first comment, never the post body   ·   comment-gated CTAs beat link clicks   ·   thought leadership publishes from the founder profile   ·   LinkedIn does not expose poll voters, so follow up with commenters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F1"/>
        </a:solidFill>
        <a:effectLst/>
      </p:bgPr>
    </p:bg>
    <p:spTree>
      <p:nvGrpSpPr>
        <p:cNvPr id="1" name=""/>
        <p:cNvGrpSpPr/>
        <p:nvPr/>
      </p:nvGrpSpPr>
      <p:grpSpPr>
        <a:xfrm>
          <a:off x="0" y="0"/>
          <a:ext cx="0" cy="0"/>
          <a:chOff x="0" y="0"/>
          <a:chExt cx="0" cy="0"/>
        </a:xfrm>
      </p:grpSpPr>
      <p:sp>
        <p:nvSpPr>
          <p:cNvPr id="2" name="Text 0"/>
          <p:cNvSpPr txBox="1"/>
          <p:nvPr/>
        </p:nvSpPr>
        <p:spPr>
          <a:xfrm>
            <a:off x="502920" y="347472"/>
            <a:ext cx="8686800" cy="219456"/>
          </a:xfrm>
          <a:prstGeom prst="rect">
            <a:avLst/>
          </a:prstGeom>
          <a:noFill/>
          <a:ln/>
        </p:spPr>
        <p:txBody>
          <a:bodyPr wrap="square" lIns="0" tIns="0" rIns="0" bIns="0" rtlCol="0" anchor="ctr"/>
          <a:lstStyle/>
          <a:p>
            <a:pPr marL="0" indent="0">
              <a:buNone/>
            </a:pPr>
            <a:r>
              <a:rPr lang="en-US" sz="1000" b="1" kern="0" spc="220" dirty="0">
                <a:solidFill>
                  <a:srgbClr val="3D4650"/>
                </a:solidFill>
                <a:latin typeface="Inter" pitchFamily="34" charset="0"/>
                <a:ea typeface="Inter" pitchFamily="34" charset="-122"/>
                <a:cs typeface="Inter" pitchFamily="34" charset="-120"/>
              </a:rPr>
              <a:t>INTERNSHIP JOURNEY</a:t>
            </a:r>
            <a:endParaRPr lang="en-US" sz="1000" dirty="0"/>
          </a:p>
        </p:txBody>
      </p:sp>
      <p:sp>
        <p:nvSpPr>
          <p:cNvPr id="3" name="Shape 1"/>
          <p:cNvSpPr/>
          <p:nvPr/>
        </p:nvSpPr>
        <p:spPr>
          <a:xfrm>
            <a:off x="502920" y="621792"/>
            <a:ext cx="502920" cy="36576"/>
          </a:xfrm>
          <a:prstGeom prst="rect">
            <a:avLst/>
          </a:prstGeom>
          <a:solidFill>
            <a:srgbClr val="C91E2C"/>
          </a:solidFill>
          <a:ln/>
        </p:spPr>
      </p:sp>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700" b="1" dirty="0">
                <a:solidFill>
                  <a:srgbClr val="242126"/>
                </a:solidFill>
                <a:latin typeface="Archivo" pitchFamily="34" charset="0"/>
                <a:ea typeface="Archivo" pitchFamily="34" charset="-122"/>
                <a:cs typeface="Archivo" pitchFamily="34" charset="-120"/>
              </a:rPr>
              <a:t>What we did, what got in the way, and how we solved it.</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3002697812"/>
              </p:ext>
            </p:extLst>
          </p:nvPr>
        </p:nvGraphicFramePr>
        <p:xfrm>
          <a:off x="502920" y="1645919"/>
          <a:ext cx="3657600" cy="3517290"/>
        </p:xfrm>
        <a:graphic>
          <a:graphicData uri="http://schemas.openxmlformats.org/drawingml/2006/table">
            <a:tbl>
              <a:tblPr/>
              <a:tblGrid>
                <a:gridCol w="3657600">
                  <a:extLst>
                    <a:ext uri="{9D8B030D-6E8A-4147-A177-3AD203B41FA5}">
                      <a16:colId xmlns:a16="http://schemas.microsoft.com/office/drawing/2014/main" val="20000"/>
                    </a:ext>
                  </a:extLst>
                </a:gridCol>
              </a:tblGrid>
              <a:tr h="50247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Tasks assigned</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Visited 636 companies in 743 visits across four emirates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Interviewed fuel buyers on supplier, volume, equipment and pain points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Introduced FILLIT and left flyers at every site</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Logged and colour-coded every visit the same day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Found 136 new leads beyond the supplied list</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Turned the data into a growth plan and LinkedIn strategy</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49" name="Table 1"/>
          <p:cNvGraphicFramePr>
            <a:graphicFrameLocks noGrp="1"/>
          </p:cNvGraphicFramePr>
          <p:nvPr>
            <p:extLst>
              <p:ext uri="{D42A27DB-BD31-4B8C-83A1-F6EECF244321}">
                <p14:modId xmlns:p14="http://schemas.microsoft.com/office/powerpoint/2010/main" val="4240945785"/>
              </p:ext>
            </p:extLst>
          </p:nvPr>
        </p:nvGraphicFramePr>
        <p:xfrm>
          <a:off x="4315968" y="1645919"/>
          <a:ext cx="4663440" cy="3517290"/>
        </p:xfrm>
        <a:graphic>
          <a:graphicData uri="http://schemas.openxmlformats.org/drawingml/2006/table">
            <a:tbl>
              <a:tblPr/>
              <a:tblGrid>
                <a:gridCol w="19202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47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Challenge</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How we solved it</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The list was stale: 59.5% dead ends in Week 1</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Built our own leads, which reached 65.4% green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125 companies had moved or the address was wrong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Logged the reason, so each one is recoverable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100 sites were behind gates or in free zones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Logged as blocked, not lost, and planned passes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Reception would not connect us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Asked for the fuel buyer by role: 146 named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Usage given in litres, gallons and dirhams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Converted everything to litres a month</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502470">
                <a:tc>
                  <a:txBody>
                    <a:bodyPr/>
                    <a:lstStyle/>
                    <a:p>
                      <a:pPr marL="0" indent="0">
                        <a:buNone/>
                      </a:pPr>
                      <a:r>
                        <a:rPr lang="en-US" sz="1000" b="1" dirty="0">
                          <a:solidFill>
                            <a:srgbClr val="242126"/>
                          </a:solidFill>
                          <a:latin typeface="Inter" pitchFamily="34" charset="0"/>
                          <a:ea typeface="Inter" pitchFamily="34" charset="-122"/>
                          <a:cs typeface="Inter" pitchFamily="34" charset="-120"/>
                        </a:rPr>
                        <a:t>Colour and written status disagreed on 26 rows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tc>
                  <a:txBody>
                    <a:bodyPr/>
                    <a:lstStyle/>
                    <a:p>
                      <a:pPr marL="0" indent="0">
                        <a:buNone/>
                      </a:pPr>
                      <a:r>
                        <a:rPr lang="en-US" sz="1000" dirty="0">
                          <a:solidFill>
                            <a:srgbClr val="242126"/>
                          </a:solidFill>
                          <a:latin typeface="Inter" pitchFamily="34" charset="0"/>
                          <a:ea typeface="Inter" pitchFamily="34" charset="-122"/>
                          <a:cs typeface="Inter" pitchFamily="34" charset="-120"/>
                        </a:rPr>
                        <a:t>Applied the written interest level</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3" name="Table 2"/>
          <p:cNvGraphicFramePr>
            <a:graphicFrameLocks noGrp="1"/>
          </p:cNvGraphicFramePr>
          <p:nvPr>
            <p:extLst>
              <p:ext uri="{D42A27DB-BD31-4B8C-83A1-F6EECF244321}">
                <p14:modId xmlns:p14="http://schemas.microsoft.com/office/powerpoint/2010/main" val="1226729986"/>
              </p:ext>
            </p:extLst>
          </p:nvPr>
        </p:nvGraphicFramePr>
        <p:xfrm>
          <a:off x="9162288" y="1645919"/>
          <a:ext cx="2523744" cy="3517290"/>
        </p:xfrm>
        <a:graphic>
          <a:graphicData uri="http://schemas.openxmlformats.org/drawingml/2006/table">
            <a:tbl>
              <a:tblPr/>
              <a:tblGrid>
                <a:gridCol w="2523744">
                  <a:extLst>
                    <a:ext uri="{9D8B030D-6E8A-4147-A177-3AD203B41FA5}">
                      <a16:colId xmlns:a16="http://schemas.microsoft.com/office/drawing/2014/main" val="20000"/>
                    </a:ext>
                  </a:extLst>
                </a:gridCol>
              </a:tblGrid>
              <a:tr h="502470">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Tools and platforms</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Excel: 743-visit log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Python (Claude code): cleaning, analysis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Google Maps: routes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LinkedIn: research</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WhatsApp: team updates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502470">
                <a:tc>
                  <a:txBody>
                    <a:bodyPr/>
                    <a:lstStyle/>
                    <a:p>
                      <a:pPr marL="0" indent="0">
                        <a:buNone/>
                      </a:pPr>
                      <a:r>
                        <a:rPr lang="en-US" sz="1050" dirty="0">
                          <a:solidFill>
                            <a:srgbClr val="242126"/>
                          </a:solidFill>
                          <a:latin typeface="Inter" pitchFamily="34" charset="0"/>
                          <a:ea typeface="Inter" pitchFamily="34" charset="-122"/>
                          <a:cs typeface="Inter" pitchFamily="34" charset="-120"/>
                        </a:rPr>
                        <a:t>PowerPoint: reporting</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3"/>
          <p:cNvSpPr/>
          <p:nvPr/>
        </p:nvSpPr>
        <p:spPr>
          <a:xfrm>
            <a:off x="502920" y="6144768"/>
            <a:ext cx="11185855" cy="475488"/>
          </a:xfrm>
          <a:prstGeom prst="rect">
            <a:avLst/>
          </a:prstGeom>
          <a:solidFill>
            <a:srgbClr val="FCF3F4"/>
          </a:solidFill>
          <a:ln/>
        </p:spPr>
      </p:sp>
      <p:sp>
        <p:nvSpPr>
          <p:cNvPr id="9" name="Shape 4"/>
          <p:cNvSpPr/>
          <p:nvPr/>
        </p:nvSpPr>
        <p:spPr>
          <a:xfrm>
            <a:off x="502920" y="6144768"/>
            <a:ext cx="50292" cy="475488"/>
          </a:xfrm>
          <a:prstGeom prst="rect">
            <a:avLst/>
          </a:prstGeom>
          <a:solidFill>
            <a:srgbClr val="2E7D4F"/>
          </a:solidFill>
          <a:ln/>
        </p:spPr>
      </p:sp>
      <p:sp>
        <p:nvSpPr>
          <p:cNvPr id="10" name="Text 5"/>
          <p:cNvSpPr txBox="1"/>
          <p:nvPr/>
        </p:nvSpPr>
        <p:spPr>
          <a:xfrm>
            <a:off x="685800" y="6144768"/>
            <a:ext cx="10865815" cy="475488"/>
          </a:xfrm>
          <a:prstGeom prst="rect">
            <a:avLst/>
          </a:prstGeom>
          <a:noFill/>
          <a:ln/>
        </p:spPr>
        <p:txBody>
          <a:bodyPr wrap="square" lIns="0" tIns="0" rIns="0" bIns="0" rtlCol="0" anchor="ctr"/>
          <a:lstStyle/>
          <a:p>
            <a:pPr marL="0" indent="0">
              <a:buNone/>
            </a:pPr>
            <a:r>
              <a:rPr lang="en-US" sz="1200" b="1" dirty="0">
                <a:solidFill>
                  <a:srgbClr val="242126"/>
                </a:solidFill>
                <a:latin typeface="Inter" pitchFamily="34" charset="0"/>
                <a:ea typeface="Inter" pitchFamily="34" charset="-122"/>
                <a:cs typeface="Inter" pitchFamily="34" charset="-120"/>
              </a:rPr>
              <a:t>Each challenge became a recommendation FILLIT can act on, from address checks to free-zone passes.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F1"/>
        </a:solidFill>
        <a:effectLst/>
      </p:bgPr>
    </p:bg>
    <p:spTree>
      <p:nvGrpSpPr>
        <p:cNvPr id="1" name=""/>
        <p:cNvGrpSpPr/>
        <p:nvPr/>
      </p:nvGrpSpPr>
      <p:grpSpPr>
        <a:xfrm>
          <a:off x="0" y="0"/>
          <a:ext cx="0" cy="0"/>
          <a:chOff x="0" y="0"/>
          <a:chExt cx="0" cy="0"/>
        </a:xfrm>
      </p:grpSpPr>
      <p:sp>
        <p:nvSpPr>
          <p:cNvPr id="4" name="Text 2"/>
          <p:cNvSpPr txBox="1"/>
          <p:nvPr/>
        </p:nvSpPr>
        <p:spPr>
          <a:xfrm>
            <a:off x="502920" y="768096"/>
            <a:ext cx="11185855" cy="566928"/>
          </a:xfrm>
          <a:prstGeom prst="rect">
            <a:avLst/>
          </a:prstGeom>
          <a:noFill/>
          <a:ln/>
        </p:spPr>
        <p:txBody>
          <a:bodyPr wrap="square" lIns="0" tIns="0" rIns="0" bIns="0" rtlCol="0" anchor="ctr"/>
          <a:lstStyle/>
          <a:p>
            <a:pPr marL="0" indent="0">
              <a:buNone/>
            </a:pPr>
            <a:r>
              <a:rPr lang="en-US" sz="2600" b="1" dirty="0">
                <a:solidFill>
                  <a:srgbClr val="242126"/>
                </a:solidFill>
                <a:latin typeface="Archivo" pitchFamily="34" charset="0"/>
                <a:ea typeface="Archivo" pitchFamily="34" charset="-122"/>
                <a:cs typeface="Archivo" pitchFamily="34" charset="-120"/>
              </a:rPr>
              <a:t>My contribution, what I learned, and what FILLIT keeps.</a:t>
            </a:r>
            <a:endParaRPr lang="en-US" sz="2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627632"/>
          <a:ext cx="5532120" cy="3120136"/>
        </p:xfrm>
        <a:graphic>
          <a:graphicData uri="http://schemas.openxmlformats.org/drawingml/2006/table">
            <a:tbl>
              <a:tblPr/>
              <a:tblGrid>
                <a:gridCol w="5532120">
                  <a:extLst>
                    <a:ext uri="{9D8B030D-6E8A-4147-A177-3AD203B41FA5}">
                      <a16:colId xmlns:a16="http://schemas.microsoft.com/office/drawing/2014/main" val="20000"/>
                    </a:ext>
                  </a:extLst>
                </a:gridCol>
              </a:tblGrid>
              <a:tr h="38404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My individual contribution</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Field visits and fuel-buyer interviews across Dubai, Sharjah, Ajman and Umm Al Quwain</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Designed the capture sheet and colour-coded status system used for all 743 visits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Verified the master database: 636 companies, latest status, 26 conflicts resolved</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Analysed demand by sector, territory, supplier, pain point, volume and lead source</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Turned the findings into FILLIT's growth plan, targets and 90-day roadmap</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Wrote the 4-week LinkedIn strategy (28 posts) and the 2026 white paper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000" b="1" dirty="0">
                          <a:solidFill>
                            <a:srgbClr val="242126"/>
                          </a:solidFill>
                          <a:latin typeface="Inter" pitchFamily="34" charset="0"/>
                          <a:ea typeface="Inter" pitchFamily="34" charset="-122"/>
                          <a:cs typeface="Inter" pitchFamily="34" charset="-120"/>
                        </a:rPr>
                        <a:t>Team: Mudar, Gautham, Parasharan and Divesh shared field visits, client conversations, flyers and data logging equally</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EFECE8"/>
                    </a:solidFill>
                  </a:tcPr>
                </a:tc>
                <a:extLst>
                  <a:ext uri="{0D108BD9-81ED-4DB2-BD59-A6C34878D82A}">
                    <a16:rowId xmlns:a16="http://schemas.microsoft.com/office/drawing/2014/main" val="10007"/>
                  </a:ext>
                </a:extLst>
              </a:tr>
            </a:tbl>
          </a:graphicData>
        </a:graphic>
      </p:graphicFrame>
      <p:graphicFrame>
        <p:nvGraphicFramePr>
          <p:cNvPr id="51" name="Table 1"/>
          <p:cNvGraphicFramePr>
            <a:graphicFrameLocks noGrp="1"/>
          </p:cNvGraphicFramePr>
          <p:nvPr>
            <p:extLst>
              <p:ext uri="{D42A27DB-BD31-4B8C-83A1-F6EECF244321}">
                <p14:modId xmlns:p14="http://schemas.microsoft.com/office/powerpoint/2010/main" val="1579011935"/>
              </p:ext>
            </p:extLst>
          </p:nvPr>
        </p:nvGraphicFramePr>
        <p:xfrm>
          <a:off x="6153912" y="1627632"/>
          <a:ext cx="5532120" cy="2688336"/>
        </p:xfrm>
        <a:graphic>
          <a:graphicData uri="http://schemas.openxmlformats.org/drawingml/2006/table">
            <a:tbl>
              <a:tblPr/>
              <a:tblGrid>
                <a:gridCol w="5532120">
                  <a:extLst>
                    <a:ext uri="{9D8B030D-6E8A-4147-A177-3AD203B41FA5}">
                      <a16:colId xmlns:a16="http://schemas.microsoft.com/office/drawing/2014/main" val="20000"/>
                    </a:ext>
                  </a:extLst>
                </a:gridCol>
              </a:tblGrid>
              <a:tr h="384048">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Files and assets handed over</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Master database: 636 companies with overrides, weekly, sector and zone sheets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Hot (27), Warm (45) and Cold (110) lead files, ready for the sales team</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Self-generated leads (136) and CAFU-affected accounts (20)</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Blocked and revisit list (210) for access and follow-up planning</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LinkedIn strategy, Week 1 creative and the 2026 white paper</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000" dirty="0">
                          <a:solidFill>
                            <a:srgbClr val="242126"/>
                          </a:solidFill>
                          <a:latin typeface="Inter" pitchFamily="34" charset="0"/>
                          <a:ea typeface="Inter" pitchFamily="34" charset="-122"/>
                          <a:cs typeface="Inter" pitchFamily="34" charset="-120"/>
                        </a:rPr>
                        <a:t>This deck, with speaker notes and sources</a:t>
                      </a:r>
                      <a:endParaRPr lang="en-US" sz="100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76" name="Table 2"/>
          <p:cNvGraphicFramePr>
            <a:graphicFrameLocks noGrp="1"/>
          </p:cNvGraphicFramePr>
          <p:nvPr>
            <p:extLst>
              <p:ext uri="{D42A27DB-BD31-4B8C-83A1-F6EECF244321}">
                <p14:modId xmlns:p14="http://schemas.microsoft.com/office/powerpoint/2010/main" val="1579011935"/>
              </p:ext>
            </p:extLst>
          </p:nvPr>
        </p:nvGraphicFramePr>
        <p:xfrm>
          <a:off x="502920" y="5212080"/>
          <a:ext cx="11183112" cy="1389888"/>
        </p:xfrm>
        <a:graphic>
          <a:graphicData uri="http://schemas.openxmlformats.org/drawingml/2006/table">
            <a:tbl>
              <a:tblPr/>
              <a:tblGrid>
                <a:gridCol w="11183112">
                  <a:extLst>
                    <a:ext uri="{9D8B030D-6E8A-4147-A177-3AD203B41FA5}">
                      <a16:colId xmlns:a16="http://schemas.microsoft.com/office/drawing/2014/main" val="20000"/>
                    </a:ext>
                  </a:extLst>
                </a:gridCol>
              </a:tblGrid>
              <a:tr h="347472">
                <a:tc>
                  <a:txBody>
                    <a:bodyPr/>
                    <a:lstStyle/>
                    <a:p>
                      <a:pPr marL="0" indent="0" algn="l">
                        <a:buNone/>
                      </a:pPr>
                      <a:r>
                        <a:rPr lang="en-US" sz="950" b="1" kern="0" spc="100" dirty="0">
                          <a:solidFill>
                            <a:srgbClr val="FFFFFF"/>
                          </a:solidFill>
                          <a:latin typeface="Inter" pitchFamily="34" charset="0"/>
                          <a:ea typeface="Inter" pitchFamily="34" charset="-122"/>
                          <a:cs typeface="Inter" pitchFamily="34" charset="-120"/>
                        </a:rPr>
                        <a:t>Key learnings from the internship</a:t>
                      </a:r>
                      <a:endParaRPr lang="en-US" sz="9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solidFill>
                      <a:srgbClr val="242126"/>
                    </a:solidFill>
                  </a:tcPr>
                </a:tc>
                <a:extLst>
                  <a:ext uri="{0D108BD9-81ED-4DB2-BD59-A6C34878D82A}">
                    <a16:rowId xmlns:a16="http://schemas.microsoft.com/office/drawing/2014/main" val="10000"/>
                  </a:ext>
                </a:extLst>
              </a:tr>
              <a:tr h="347472">
                <a:tc>
                  <a:txBody>
                    <a:bodyPr/>
                    <a:lstStyle/>
                    <a:p>
                      <a:pPr marL="0" indent="0">
                        <a:buNone/>
                      </a:pPr>
                      <a:r>
                        <a:rPr lang="en-US" sz="1050" dirty="0">
                          <a:solidFill>
                            <a:srgbClr val="242126"/>
                          </a:solidFill>
                          <a:latin typeface="Inter" pitchFamily="34" charset="0"/>
                          <a:ea typeface="Inter" pitchFamily="34" charset="-122"/>
                          <a:cs typeface="Inter" pitchFamily="34" charset="-120"/>
                        </a:rPr>
                        <a:t>Interest shows who will talk; volume shows who matters. FILLIT should score leads on both.</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50" dirty="0">
                          <a:solidFill>
                            <a:srgbClr val="242126"/>
                          </a:solidFill>
                          <a:latin typeface="Inter" pitchFamily="34" charset="0"/>
                          <a:ea typeface="Inter" pitchFamily="34" charset="-122"/>
                          <a:cs typeface="Inter" pitchFamily="34" charset="-120"/>
                        </a:rPr>
                        <a:t>In a price-regulated market, service wins. Every objection we heard was reliability, quality or access.</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50" dirty="0">
                          <a:solidFill>
                            <a:srgbClr val="242126"/>
                          </a:solidFill>
                          <a:latin typeface="Inter" pitchFamily="34" charset="0"/>
                          <a:ea typeface="Inter" pitchFamily="34" charset="-122"/>
                          <a:cs typeface="Inter" pitchFamily="34" charset="-120"/>
                        </a:rPr>
                        <a:t>Clean data is a growth lever. A verified address is worth as much as another day in the field.</a:t>
                      </a:r>
                      <a:endParaRPr lang="en-US" sz="1050" dirty="0">
                        <a:latin typeface="Inter" charset="0"/>
                        <a:ea typeface="Inter" charset="0"/>
                        <a:cs typeface="Inter" charset="0"/>
                      </a:endParaRPr>
                    </a:p>
                  </a:txBody>
                  <a:tcPr marL="101600" marR="101600" marT="63500" marB="63500" anchor="ctr">
                    <a:lnL w="12700" cap="flat" cmpd="sng" algn="ctr">
                      <a:solidFill>
                        <a:srgbClr val="C8C2BA"/>
                      </a:solidFill>
                      <a:prstDash val="solid"/>
                      <a:round/>
                      <a:headEnd type="none" w="med" len="med"/>
                      <a:tailEnd type="none" w="med" len="med"/>
                    </a:lnL>
                    <a:lnR w="12700" cap="flat" cmpd="sng" algn="ctr">
                      <a:solidFill>
                        <a:srgbClr val="C8C2BA"/>
                      </a:solidFill>
                      <a:prstDash val="solid"/>
                      <a:round/>
                      <a:headEnd type="none" w="med" len="med"/>
                      <a:tailEnd type="none" w="med" len="med"/>
                    </a:lnR>
                    <a:lnT w="12700" cap="flat" cmpd="sng" algn="ctr">
                      <a:solidFill>
                        <a:srgbClr val="C8C2BA"/>
                      </a:solidFill>
                      <a:prstDash val="solid"/>
                      <a:round/>
                      <a:headEnd type="none" w="med" len="med"/>
                      <a:tailEnd type="none" w="med" len="med"/>
                    </a:lnT>
                    <a:lnB w="12700" cap="flat" cmpd="sng" algn="ctr">
                      <a:solidFill>
                        <a:srgbClr val="C8C2B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42126"/>
        </a:solidFill>
        <a:effectLst/>
      </p:bgPr>
    </p:bg>
    <p:spTree>
      <p:nvGrpSpPr>
        <p:cNvPr id="1" name="">
          <a:extLst>
            <a:ext uri="{FF2B5EF4-FFF2-40B4-BE49-F238E27FC236}">
              <a16:creationId xmlns:a16="http://schemas.microsoft.com/office/drawing/2014/main" id="{37CA394D-207F-DD25-4CF9-F7CB378F5F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E6C7568-980C-753E-DA45-900774D862D0}"/>
              </a:ext>
            </a:extLst>
          </p:cNvPr>
          <p:cNvSpPr/>
          <p:nvPr/>
        </p:nvSpPr>
        <p:spPr>
          <a:xfrm>
            <a:off x="0" y="0"/>
            <a:ext cx="164592" cy="6858000"/>
          </a:xfrm>
          <a:prstGeom prst="rect">
            <a:avLst/>
          </a:prstGeom>
          <a:solidFill>
            <a:srgbClr val="C91E2C"/>
          </a:solidFill>
          <a:ln/>
        </p:spPr>
      </p:sp>
      <p:sp>
        <p:nvSpPr>
          <p:cNvPr id="4" name="Text 2">
            <a:extLst>
              <a:ext uri="{FF2B5EF4-FFF2-40B4-BE49-F238E27FC236}">
                <a16:creationId xmlns:a16="http://schemas.microsoft.com/office/drawing/2014/main" id="{8D0EF1AB-7817-5D41-C05C-E9DCA6740D94}"/>
              </a:ext>
            </a:extLst>
          </p:cNvPr>
          <p:cNvSpPr txBox="1"/>
          <p:nvPr/>
        </p:nvSpPr>
        <p:spPr>
          <a:xfrm>
            <a:off x="1054187" y="2218208"/>
            <a:ext cx="10083626" cy="2421583"/>
          </a:xfrm>
          <a:prstGeom prst="rect">
            <a:avLst/>
          </a:prstGeom>
          <a:noFill/>
          <a:ln/>
        </p:spPr>
        <p:txBody>
          <a:bodyPr wrap="square" lIns="0" tIns="0" rIns="0" bIns="0" rtlCol="0" anchor="ctr"/>
          <a:lstStyle/>
          <a:p>
            <a:pPr marL="0" indent="0" algn="ctr">
              <a:lnSpc>
                <a:spcPts val="5400"/>
              </a:lnSpc>
              <a:buNone/>
            </a:pPr>
            <a:r>
              <a:rPr lang="en-US" sz="4400" b="1" dirty="0">
                <a:solidFill>
                  <a:srgbClr val="C00000"/>
                </a:solidFill>
                <a:latin typeface="Archivo" pitchFamily="34" charset="0"/>
                <a:ea typeface="Archivo" pitchFamily="34" charset="-122"/>
                <a:cs typeface="Archivo" pitchFamily="34" charset="-120"/>
                <a:hlinkClick r:id="rId3">
                  <a:extLst>
                    <a:ext uri="{A12FA001-AC4F-418D-AE19-62706E023703}">
                      <ahyp:hlinkClr xmlns:ahyp="http://schemas.microsoft.com/office/drawing/2018/hyperlinkcolor" val="tx"/>
                    </a:ext>
                  </a:extLst>
                </a:hlinkClick>
              </a:rPr>
              <a:t>Thank You!!</a:t>
            </a:r>
            <a:endParaRPr lang="en-US" sz="4400" dirty="0">
              <a:solidFill>
                <a:srgbClr val="C00000"/>
              </a:solidFill>
            </a:endParaRPr>
          </a:p>
        </p:txBody>
      </p:sp>
    </p:spTree>
    <p:extLst>
      <p:ext uri="{BB962C8B-B14F-4D97-AF65-F5344CB8AC3E}">
        <p14:creationId xmlns:p14="http://schemas.microsoft.com/office/powerpoint/2010/main" val="845142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5805</Words>
  <Application>Microsoft Office PowerPoint</Application>
  <PresentationFormat>Widescreen</PresentationFormat>
  <Paragraphs>910</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Archivo</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FILLIT Diesel Trading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FILLIT Market Research - Divesh Anand</dc:title>
  <dc:subject>PptxGenJS Presentation</dc:subject>
  <dc:creator>Divesh Anand</dc:creator>
  <cp:lastModifiedBy>Divesh Anand_IMTGhaziabad</cp:lastModifiedBy>
  <cp:revision>13</cp:revision>
  <dcterms:created xsi:type="dcterms:W3CDTF">2026-09-21T09:25:13Z</dcterms:created>
  <dcterms:modified xsi:type="dcterms:W3CDTF">2026-09-21T20:52:22Z</dcterms:modified>
</cp:coreProperties>
</file>