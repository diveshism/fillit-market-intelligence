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Six weeks in the field, five hundred and sixty eight companies across four emirates. I will show you what that produced, and one finding that changes where the commercial team should spend its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numbers before the detail. The one to hold onto is sixty percent. Excluding one very large outlier account, that is the share of measured diesel volume sitting in companies we ourselves scored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Map who burns diesel, understand how they buy it, understand the competition, and put FILLIT in front of businesses that had never heard of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in the field. The first three days were desk research and cold calls to learn the business. From then on it was entirely in-person. Week one produced a fifty nine point five percent dead end rate, which told us the supplied list itself was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hundred and fifty one visits resolved to five hundred and sixty eight companies. One hundred and fifty seven confirmed diesel users, twenty seven point six percent. But another one hundred and ninety four are blocked or unresolved rather than rejected, so the addressable pool is much larger than the green bucket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three KPI areas set at the start. Outreach volume, lead quality and standard of work, with a plain English definition beside every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fifty nine point five percent dead ends and no self generated leads. From week two, when we began finding companies ourselves, the dead end rate fell to between nineteen and thirty percent. Week six rose again because it was mostly revisits and gated sites in Jebel Ali. Counts here are per visit, so a company visited twice appears in both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dedicated pain point column is sparse, so we text mined every comment across all five hundred and sixty eight companies. Every major pain point appears exclusively alongside companies that actually use diesel.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who decides and how they buy. A hundred and nineteen named fuel buyers, thirteen locked into chip or prepaid cards, thirty five buying from unverified traders, twenty eight driving to a pump. On the right, what they said in their own words. Almost none of it is about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companies we simply could not get into. Not one was disqualified. The workbook has a passes required field for exactly this, and it holds just two entries against ninety blocked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Metals converted at sixty five percent. Building and civil contracting took two hundred and nine companies, thirty seven percent of the programme, and returned twenty three percent. Marine and boat building is the one I would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Sajaa returned eighty four point six percent green from thirteen companies. Dubai Industrial City and DIP together returned forty eight percent. Jebel Ali is the opposite: sixty two companies, zero Hot leads, forty blocked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territory we actually covered is shown. Four areas to work, one to stop visiting. Business Bay, Jumeirah and Silicon Oasis returned a hundred and two companies and only two Hot leads, because those are registered office districts rather than operating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supplier owns this market. The largest group buys from independent traders, and that is exactly where the quality and trust complaints cluster. And CAFU appears twenty times unprompted, sixteen of those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Excluding one very large outlier, RP Group, sixty percent of measured diesel volume sits in companies we scored Cold. The average Cold company uses about twenty seven and a half thousand litres a month, two point four times a Hot one. Temperature measured who was willing to talk, not who buys the most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customer problems and the commercial opening each creates. Every row is a named group of companies in the files we are handing over. And not one of these six openings is a price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two qualified companies, named and profiled. I have shown who each one buys from today rather than volume, because that is what tells the sales team how to open the conversation. Full lists are handed over as separate Excel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Seventy two leads we found ourselves returned seventy point eight percent green and thirteen point nine percent dead ends. The planned list returned twenty one point four percent green and forty one point seven percent dead.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findings. The scoring points at the wrong companies. CAFU has created a vacuum. Most closed records failed on addresses rather than demand. Our own leads beat the list more than three to one. And ninety companies are blocked rather than disqualified.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recommendations in priority order. The first is the easiest revenue in the business: twenty three Hot leads asked us for a quote, sample or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six things that can start this week using data already collected. On the right, what each is worth. None of this needs new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days built for the commercial team. First thirty, convert what is already asking. Next thirty, go where the litres are. Final thirty, build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 field research I wrote FILLIT a four week LinkedIn plan, post by post. Twenty eight posts, all ten content pillars, thirteen formats. Week one creative is designed and ready. Every post is built on findings from this research, which is what makes it credible rather than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tasks, the challenges and how we handled each one, and the tools we used. Every challenge here turned into a finding: the Week one dead end rate is exactly what pushed us to start generating our own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what I learned, and everything being handed over.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for every external figure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12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1E2C"/>
          </a:solidFill>
          <a:ln/>
        </p:spPr>
      </p:sp>
      <p:sp>
        <p:nvSpPr>
          <p:cNvPr id="3" name="Text 1"/>
          <p:cNvSpPr txBox="1"/>
          <p:nvPr/>
        </p:nvSpPr>
        <p:spPr>
          <a:xfrm>
            <a:off x="960120" y="1417320"/>
            <a:ext cx="8229600" cy="274320"/>
          </a:xfrm>
          <a:prstGeom prst="rect">
            <a:avLst/>
          </a:prstGeom>
          <a:noFill/>
          <a:ln/>
        </p:spPr>
        <p:txBody>
          <a:bodyPr wrap="square" lIns="0" tIns="0" rIns="0" bIns="0" rtlCol="0" anchor="ctr"/>
          <a:lstStyle/>
          <a:p>
            <a:pPr indent="0" marL="0">
              <a:buNone/>
            </a:pPr>
            <a:r>
              <a:rPr lang="en-US" sz="1150" b="1" spc="220" kern="0" dirty="0">
                <a:solidFill>
                  <a:srgbClr val="E8C9CE"/>
                </a:solidFill>
                <a:latin typeface="Inter" pitchFamily="34" charset="0"/>
                <a:ea typeface="Inter" pitchFamily="34" charset="-122"/>
                <a:cs typeface="Inter" pitchFamily="34" charset="-120"/>
              </a:rPr>
              <a:t>MARKET RESEARCH INTERNSHIP   ·   SEPTEMBER 2026</a:t>
            </a:r>
            <a:endParaRPr lang="en-US" sz="1150" dirty="0"/>
          </a:p>
        </p:txBody>
      </p:sp>
      <p:sp>
        <p:nvSpPr>
          <p:cNvPr id="4" name="Text 2"/>
          <p:cNvSpPr txBox="1"/>
          <p:nvPr/>
        </p:nvSpPr>
        <p:spPr>
          <a:xfrm>
            <a:off x="960120" y="1874520"/>
            <a:ext cx="9144000" cy="2240280"/>
          </a:xfrm>
          <a:prstGeom prst="rect">
            <a:avLst/>
          </a:prstGeom>
          <a:noFill/>
          <a:ln/>
        </p:spPr>
        <p:txBody>
          <a:bodyPr wrap="square" lIns="0" tIns="0" rIns="0" bIns="0" rtlCol="0" anchor="ctr"/>
          <a:lstStyle/>
          <a:p>
            <a:pPr indent="0" marL="0">
              <a:lnSpc>
                <a:spcPts val="5400"/>
              </a:lnSpc>
              <a:buNone/>
            </a:pPr>
            <a:r>
              <a:rPr lang="en-US" sz="4400" b="1" dirty="0">
                <a:solidFill>
                  <a:srgbClr val="FFFFFF"/>
                </a:solidFill>
                <a:latin typeface="Archivo" pitchFamily="34" charset="0"/>
                <a:ea typeface="Archivo" pitchFamily="34" charset="-122"/>
                <a:cs typeface="Archivo" pitchFamily="34" charset="-120"/>
              </a:rPr>
              <a:t>568 companies.</a:t>
            </a:r>
            <a:endParaRPr lang="en-US" sz="4400" dirty="0"/>
          </a:p>
          <a:p>
            <a:pPr indent="0" marL="0">
              <a:lnSpc>
                <a:spcPts val="5400"/>
              </a:lnSpc>
              <a:buNone/>
            </a:pPr>
            <a:r>
              <a:rPr lang="en-US" sz="4400" b="1" dirty="0">
                <a:solidFill>
                  <a:srgbClr val="FFFFFF"/>
                </a:solidFill>
                <a:latin typeface="Archivo" pitchFamily="34" charset="0"/>
                <a:ea typeface="Archivo" pitchFamily="34" charset="-122"/>
                <a:cs typeface="Archivo" pitchFamily="34" charset="-120"/>
              </a:rPr>
              <a:t>Six weeks.</a:t>
            </a:r>
            <a:endParaRPr lang="en-US" sz="4400" dirty="0"/>
          </a:p>
          <a:p>
            <a:pPr indent="0" marL="0">
              <a:lnSpc>
                <a:spcPts val="5400"/>
              </a:lnSpc>
              <a:buNone/>
            </a:pPr>
            <a:r>
              <a:rPr lang="en-US" sz="4400" b="1" dirty="0">
                <a:solidFill>
                  <a:srgbClr val="FFFFFF"/>
                </a:solidFill>
                <a:latin typeface="Archivo" pitchFamily="34" charset="0"/>
                <a:ea typeface="Archivo" pitchFamily="34" charset="-122"/>
                <a:cs typeface="Archivo" pitchFamily="34" charset="-120"/>
              </a:rPr>
              <a:t>One market, mapped.</a:t>
            </a:r>
            <a:endParaRPr lang="en-US" sz="4400" dirty="0"/>
          </a:p>
        </p:txBody>
      </p:sp>
      <p:sp>
        <p:nvSpPr>
          <p:cNvPr id="5" name="Shape 3"/>
          <p:cNvSpPr/>
          <p:nvPr/>
        </p:nvSpPr>
        <p:spPr>
          <a:xfrm>
            <a:off x="960120" y="4498848"/>
            <a:ext cx="365760" cy="32004"/>
          </a:xfrm>
          <a:prstGeom prst="rect">
            <a:avLst/>
          </a:prstGeom>
          <a:solidFill>
            <a:srgbClr val="C91E2C"/>
          </a:solidFill>
          <a:ln/>
        </p:spPr>
      </p:sp>
      <p:sp>
        <p:nvSpPr>
          <p:cNvPr id="6" name="Text 4"/>
          <p:cNvSpPr txBox="1"/>
          <p:nvPr/>
        </p:nvSpPr>
        <p:spPr>
          <a:xfrm>
            <a:off x="960120" y="4626864"/>
            <a:ext cx="3108960" cy="530352"/>
          </a:xfrm>
          <a:prstGeom prst="rect">
            <a:avLst/>
          </a:prstGeom>
          <a:noFill/>
          <a:ln/>
        </p:spPr>
        <p:txBody>
          <a:bodyPr wrap="square" lIns="0" tIns="0" rIns="0" bIns="0" rtlCol="0" anchor="ctr"/>
          <a:lstStyle/>
          <a:p>
            <a:pPr indent="0" marL="0">
              <a:buNone/>
            </a:pPr>
            <a:r>
              <a:rPr lang="en-US" sz="3100" b="1" dirty="0">
                <a:solidFill>
                  <a:srgbClr val="FFFFFF"/>
                </a:solidFill>
                <a:latin typeface="Archivo" pitchFamily="34" charset="0"/>
                <a:ea typeface="Archivo" pitchFamily="34" charset="-122"/>
                <a:cs typeface="Archivo" pitchFamily="34" charset="-120"/>
              </a:rPr>
              <a:t>157</a:t>
            </a:r>
            <a:endParaRPr lang="en-US" sz="3100" dirty="0"/>
          </a:p>
        </p:txBody>
      </p:sp>
      <p:sp>
        <p:nvSpPr>
          <p:cNvPr id="7" name="Text 5"/>
          <p:cNvSpPr txBox="1"/>
          <p:nvPr/>
        </p:nvSpPr>
        <p:spPr>
          <a:xfrm>
            <a:off x="960120" y="5193792"/>
            <a:ext cx="3108960" cy="310896"/>
          </a:xfrm>
          <a:prstGeom prst="rect">
            <a:avLst/>
          </a:prstGeom>
          <a:noFill/>
          <a:ln/>
        </p:spPr>
        <p:txBody>
          <a:bodyPr wrap="square" lIns="0" tIns="0" rIns="0" bIns="0" rtlCol="0" anchor="ctr"/>
          <a:lstStyle/>
          <a:p>
            <a:pPr indent="0" marL="0">
              <a:buNone/>
            </a:pPr>
            <a:r>
              <a:rPr lang="en-US" sz="1150" dirty="0">
                <a:solidFill>
                  <a:srgbClr val="A9A09C"/>
                </a:solidFill>
                <a:latin typeface="Inter" pitchFamily="34" charset="0"/>
                <a:ea typeface="Inter" pitchFamily="34" charset="-122"/>
                <a:cs typeface="Inter" pitchFamily="34" charset="-120"/>
              </a:rPr>
              <a:t>confirmed diesel users</a:t>
            </a:r>
            <a:endParaRPr lang="en-US" sz="1150" dirty="0"/>
          </a:p>
        </p:txBody>
      </p:sp>
      <p:sp>
        <p:nvSpPr>
          <p:cNvPr id="8" name="Shape 6"/>
          <p:cNvSpPr/>
          <p:nvPr/>
        </p:nvSpPr>
        <p:spPr>
          <a:xfrm>
            <a:off x="4251960" y="4498848"/>
            <a:ext cx="365760" cy="32004"/>
          </a:xfrm>
          <a:prstGeom prst="rect">
            <a:avLst/>
          </a:prstGeom>
          <a:solidFill>
            <a:srgbClr val="C91E2C"/>
          </a:solidFill>
          <a:ln/>
        </p:spPr>
      </p:sp>
      <p:sp>
        <p:nvSpPr>
          <p:cNvPr id="9" name="Text 7"/>
          <p:cNvSpPr txBox="1"/>
          <p:nvPr/>
        </p:nvSpPr>
        <p:spPr>
          <a:xfrm>
            <a:off x="4251960" y="4626864"/>
            <a:ext cx="3108960" cy="530352"/>
          </a:xfrm>
          <a:prstGeom prst="rect">
            <a:avLst/>
          </a:prstGeom>
          <a:noFill/>
          <a:ln/>
        </p:spPr>
        <p:txBody>
          <a:bodyPr wrap="square" lIns="0" tIns="0" rIns="0" bIns="0" rtlCol="0" anchor="ctr"/>
          <a:lstStyle/>
          <a:p>
            <a:pPr indent="0" marL="0">
              <a:buNone/>
            </a:pPr>
            <a:r>
              <a:rPr lang="en-US" sz="3100" b="1" dirty="0">
                <a:solidFill>
                  <a:srgbClr val="FFFFFF"/>
                </a:solidFill>
                <a:latin typeface="Archivo" pitchFamily="34" charset="0"/>
                <a:ea typeface="Archivo" pitchFamily="34" charset="-122"/>
                <a:cs typeface="Archivo" pitchFamily="34" charset="-120"/>
              </a:rPr>
              <a:t>72</a:t>
            </a:r>
            <a:endParaRPr lang="en-US" sz="3100" dirty="0"/>
          </a:p>
        </p:txBody>
      </p:sp>
      <p:sp>
        <p:nvSpPr>
          <p:cNvPr id="10" name="Text 8"/>
          <p:cNvSpPr txBox="1"/>
          <p:nvPr/>
        </p:nvSpPr>
        <p:spPr>
          <a:xfrm>
            <a:off x="4251960" y="5193792"/>
            <a:ext cx="3108960" cy="310896"/>
          </a:xfrm>
          <a:prstGeom prst="rect">
            <a:avLst/>
          </a:prstGeom>
          <a:noFill/>
          <a:ln/>
        </p:spPr>
        <p:txBody>
          <a:bodyPr wrap="square" lIns="0" tIns="0" rIns="0" bIns="0" rtlCol="0" anchor="ctr"/>
          <a:lstStyle/>
          <a:p>
            <a:pPr indent="0" marL="0">
              <a:buNone/>
            </a:pPr>
            <a:r>
              <a:rPr lang="en-US" sz="1150" dirty="0">
                <a:solidFill>
                  <a:srgbClr val="A9A09C"/>
                </a:solidFill>
                <a:latin typeface="Inter" pitchFamily="34" charset="0"/>
                <a:ea typeface="Inter" pitchFamily="34" charset="-122"/>
                <a:cs typeface="Inter" pitchFamily="34" charset="-120"/>
              </a:rPr>
              <a:t>leads generated by us</a:t>
            </a:r>
            <a:endParaRPr lang="en-US" sz="1150" dirty="0"/>
          </a:p>
        </p:txBody>
      </p:sp>
      <p:sp>
        <p:nvSpPr>
          <p:cNvPr id="11" name="Shape 9"/>
          <p:cNvSpPr/>
          <p:nvPr/>
        </p:nvSpPr>
        <p:spPr>
          <a:xfrm>
            <a:off x="7543800" y="4498848"/>
            <a:ext cx="365760" cy="32004"/>
          </a:xfrm>
          <a:prstGeom prst="rect">
            <a:avLst/>
          </a:prstGeom>
          <a:solidFill>
            <a:srgbClr val="C91E2C"/>
          </a:solidFill>
          <a:ln/>
        </p:spPr>
      </p:sp>
      <p:sp>
        <p:nvSpPr>
          <p:cNvPr id="12" name="Text 10"/>
          <p:cNvSpPr txBox="1"/>
          <p:nvPr/>
        </p:nvSpPr>
        <p:spPr>
          <a:xfrm>
            <a:off x="7543800" y="4626864"/>
            <a:ext cx="3108960" cy="530352"/>
          </a:xfrm>
          <a:prstGeom prst="rect">
            <a:avLst/>
          </a:prstGeom>
          <a:noFill/>
          <a:ln/>
        </p:spPr>
        <p:txBody>
          <a:bodyPr wrap="square" lIns="0" tIns="0" rIns="0" bIns="0" rtlCol="0" anchor="ctr"/>
          <a:lstStyle/>
          <a:p>
            <a:pPr indent="0" marL="0">
              <a:buNone/>
            </a:pPr>
            <a:r>
              <a:rPr lang="en-US" sz="3100" b="1" dirty="0">
                <a:solidFill>
                  <a:srgbClr val="FFFFFF"/>
                </a:solidFill>
                <a:latin typeface="Archivo" pitchFamily="34" charset="0"/>
                <a:ea typeface="Archivo" pitchFamily="34" charset="-122"/>
                <a:cs typeface="Archivo" pitchFamily="34" charset="-120"/>
              </a:rPr>
              <a:t>20</a:t>
            </a:r>
            <a:endParaRPr lang="en-US" sz="3100" dirty="0"/>
          </a:p>
        </p:txBody>
      </p:sp>
      <p:sp>
        <p:nvSpPr>
          <p:cNvPr id="13" name="Text 11"/>
          <p:cNvSpPr txBox="1"/>
          <p:nvPr/>
        </p:nvSpPr>
        <p:spPr>
          <a:xfrm>
            <a:off x="7543800" y="5193792"/>
            <a:ext cx="3108960" cy="310896"/>
          </a:xfrm>
          <a:prstGeom prst="rect">
            <a:avLst/>
          </a:prstGeom>
          <a:noFill/>
          <a:ln/>
        </p:spPr>
        <p:txBody>
          <a:bodyPr wrap="square" lIns="0" tIns="0" rIns="0" bIns="0" rtlCol="0" anchor="ctr"/>
          <a:lstStyle/>
          <a:p>
            <a:pPr indent="0" marL="0">
              <a:buNone/>
            </a:pPr>
            <a:r>
              <a:rPr lang="en-US" sz="1150" dirty="0">
                <a:solidFill>
                  <a:srgbClr val="A9A09C"/>
                </a:solidFill>
                <a:latin typeface="Inter" pitchFamily="34" charset="0"/>
                <a:ea typeface="Inter" pitchFamily="34" charset="-122"/>
                <a:cs typeface="Inter" pitchFamily="34" charset="-120"/>
              </a:rPr>
              <a:t>companies left a rival</a:t>
            </a:r>
            <a:endParaRPr lang="en-US" sz="1150" dirty="0"/>
          </a:p>
        </p:txBody>
      </p:sp>
      <p:sp>
        <p:nvSpPr>
          <p:cNvPr id="14" name="Text 12"/>
          <p:cNvSpPr txBox="1"/>
          <p:nvPr/>
        </p:nvSpPr>
        <p:spPr>
          <a:xfrm>
            <a:off x="960120" y="5870448"/>
            <a:ext cx="6400800" cy="310896"/>
          </a:xfrm>
          <a:prstGeom prst="rect">
            <a:avLst/>
          </a:prstGeom>
          <a:noFill/>
          <a:ln/>
        </p:spPr>
        <p:txBody>
          <a:bodyPr wrap="square" lIns="0" tIns="0" rIns="0" bIns="0" rtlCol="0" anchor="ctr"/>
          <a:lstStyle/>
          <a:p>
            <a:pPr indent="0" marL="0">
              <a:buNone/>
            </a:pPr>
            <a:r>
              <a:rPr lang="en-US" sz="1600" b="1" dirty="0">
                <a:solidFill>
                  <a:srgbClr val="FFFFFF"/>
                </a:solidFill>
                <a:latin typeface="Archivo" pitchFamily="34" charset="0"/>
                <a:ea typeface="Archivo" pitchFamily="34" charset="-122"/>
                <a:cs typeface="Archivo" pitchFamily="34" charset="-120"/>
              </a:rPr>
              <a:t>Divesh Anand</a:t>
            </a:r>
            <a:endParaRPr lang="en-US" sz="1600" dirty="0"/>
          </a:p>
        </p:txBody>
      </p:sp>
      <p:sp>
        <p:nvSpPr>
          <p:cNvPr id="15" name="Text 13"/>
          <p:cNvSpPr txBox="1"/>
          <p:nvPr/>
        </p:nvSpPr>
        <p:spPr>
          <a:xfrm>
            <a:off x="960120" y="6199632"/>
            <a:ext cx="9144000" cy="274320"/>
          </a:xfrm>
          <a:prstGeom prst="rect">
            <a:avLst/>
          </a:prstGeom>
          <a:noFill/>
          <a:ln/>
        </p:spPr>
        <p:txBody>
          <a:bodyPr wrap="square" lIns="0" tIns="0" rIns="0" bIns="0" rtlCol="0" anchor="ctr"/>
          <a:lstStyle/>
          <a:p>
            <a:pPr indent="0" marL="0">
              <a:buNone/>
            </a:pPr>
            <a:r>
              <a:rPr lang="en-US" sz="1150" dirty="0">
                <a:solidFill>
                  <a:srgbClr val="8F8783"/>
                </a:solidFill>
                <a:latin typeface="Inter" pitchFamily="34" charset="0"/>
                <a:ea typeface="Inter" pitchFamily="34" charset="-122"/>
                <a:cs typeface="Inter" pitchFamily="34" charset="-120"/>
              </a:rPr>
              <a:t>Market Research Intern   ·   Team Vision Crafters   ·   FILLIT Diesel Trading LLC</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EXECUTIVE SUMMARY</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Eight numbers that describe six weeks.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Every figure is derived directly from the field workbook. No external data has been added.</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005840"/>
                <a:gridCol w="4114800"/>
                <a:gridCol w="1005840"/>
                <a:gridCol w="5056632"/>
              </a:tblGrid>
              <a:tr h="658368">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Figure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it is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Figure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it is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658368">
                <a:tc>
                  <a:txBody>
                    <a:bodyPr/>
                    <a:lstStyle/>
                    <a:p>
                      <a:pPr algn="ctr" indent="0" marL="0">
                        <a:buNone/>
                      </a:pPr>
                      <a:r>
                        <a:rPr lang="en-US" sz="1700" b="1" dirty="0">
                          <a:solidFill>
                            <a:srgbClr val="242126"/>
                          </a:solidFill>
                          <a:latin typeface="Inter" pitchFamily="34" charset="0"/>
                          <a:ea typeface="Inter" pitchFamily="34" charset="-122"/>
                          <a:cs typeface="Inter" pitchFamily="34" charset="-120"/>
                        </a:rPr>
                        <a:t>568</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companies visited, from 651 field visits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700" b="1" dirty="0">
                          <a:solidFill>
                            <a:srgbClr val="C91E2C"/>
                          </a:solidFill>
                          <a:latin typeface="Inter" pitchFamily="34" charset="0"/>
                          <a:ea typeface="Inter" pitchFamily="34" charset="-122"/>
                          <a:cs typeface="Inter" pitchFamily="34" charset="-120"/>
                        </a:rPr>
                        <a:t>20</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companies named CAFU unprompted, 16 of them negatively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algn="ctr" indent="0" marL="0">
                        <a:buNone/>
                      </a:pPr>
                      <a:r>
                        <a:rPr lang="en-US" sz="1700" b="1" dirty="0">
                          <a:solidFill>
                            <a:srgbClr val="2E7D4F"/>
                          </a:solidFill>
                          <a:latin typeface="Inter" pitchFamily="34" charset="0"/>
                          <a:ea typeface="Inter" pitchFamily="34" charset="-122"/>
                          <a:cs typeface="Inter" pitchFamily="34" charset="-120"/>
                        </a:rPr>
                        <a:t>157</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confirmed diesel users, 27.6% of the book</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700" b="1" dirty="0">
                          <a:solidFill>
                            <a:srgbClr val="C91E2C"/>
                          </a:solidFill>
                          <a:latin typeface="Inter" pitchFamily="34" charset="0"/>
                          <a:ea typeface="Inter" pitchFamily="34" charset="-122"/>
                          <a:cs typeface="Inter" pitchFamily="34" charset="-120"/>
                        </a:rPr>
                        <a:t>60%</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of measured volume sits in Cold companies, excluding one outlier account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algn="ctr" indent="0" marL="0">
                        <a:buNone/>
                      </a:pPr>
                      <a:r>
                        <a:rPr lang="en-US" sz="1700" b="1" dirty="0">
                          <a:solidFill>
                            <a:srgbClr val="B8891F"/>
                          </a:solidFill>
                          <a:latin typeface="Inter" pitchFamily="34" charset="0"/>
                          <a:ea typeface="Inter" pitchFamily="34" charset="-122"/>
                          <a:cs typeface="Inter" pitchFamily="34" charset="-120"/>
                        </a:rPr>
                        <a:t>194</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more companies blocked or unresolved, not rejected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700" b="1" dirty="0">
                          <a:solidFill>
                            <a:srgbClr val="2E7D4F"/>
                          </a:solidFill>
                          <a:latin typeface="Inter" pitchFamily="34" charset="0"/>
                          <a:ea typeface="Inter" pitchFamily="34" charset="-122"/>
                          <a:cs typeface="Inter" pitchFamily="34" charset="-120"/>
                        </a:rPr>
                        <a:t>23</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Hot leads who asked for a quote, sample or visit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algn="ctr" indent="0" marL="0">
                        <a:buNone/>
                      </a:pPr>
                      <a:r>
                        <a:rPr lang="en-US" sz="1700" b="1" dirty="0">
                          <a:solidFill>
                            <a:srgbClr val="2E7D4F"/>
                          </a:solidFill>
                          <a:latin typeface="Inter" pitchFamily="34" charset="0"/>
                          <a:ea typeface="Inter" pitchFamily="34" charset="-122"/>
                          <a:cs typeface="Inter" pitchFamily="34" charset="-120"/>
                        </a:rPr>
                        <a:t>72</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leads we generated ourselves, 70.8% of them green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700" b="1" dirty="0">
                          <a:solidFill>
                            <a:srgbClr val="41616F"/>
                          </a:solidFill>
                          <a:latin typeface="Inter" pitchFamily="34" charset="0"/>
                          <a:ea typeface="Inter" pitchFamily="34" charset="-122"/>
                          <a:cs typeface="Inter" pitchFamily="34" charset="-120"/>
                        </a:rPr>
                        <a:t>117</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closed records caused by a wrong address, not absent demand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C91E2C"/>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The uncomfortable one is 60%. The average Cold company uses 2.4 times the diesel of a Hot 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THE BRIEF</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Find out who buys diesel in the UAE, and how.</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5855" cy="914400"/>
        </p:xfrm>
        <a:graphic>
          <a:graphicData uri="http://schemas.openxmlformats.org/drawingml/2006/table">
            <a:tbl>
              <a:tblPr/>
              <a:tblGrid>
                <a:gridCol w="640080"/>
                <a:gridCol w="2926080"/>
                <a:gridCol w="7616952"/>
              </a:tblGrid>
              <a:tr h="621792">
                <a:tc>
                  <a:txBody>
                    <a:bodyPr/>
                    <a:lstStyle/>
                    <a:p>
                      <a:pPr algn="l" indent="0" marL="0">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Objective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that meant in practice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621792">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Map the market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Identify businesses that consume diesel across the UAE and record how much they use.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21792">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Understand how they buy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Current supplier, pain points, decision maker and buying behaviour.</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21792">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Map the competition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Who serves this market today, and where the gaps are.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21792">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Build awareness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Introduce FILLIT to businesses that had never heard of the name.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6" name="Text 3"/>
          <p:cNvSpPr txBox="1"/>
          <p:nvPr/>
        </p:nvSpPr>
        <p:spPr>
          <a:xfrm>
            <a:off x="502920" y="4892040"/>
            <a:ext cx="11185855" cy="868680"/>
          </a:xfrm>
          <a:prstGeom prst="rect">
            <a:avLst/>
          </a:prstGeom>
          <a:noFill/>
          <a:ln/>
        </p:spPr>
        <p:txBody>
          <a:bodyPr wrap="square" lIns="0" tIns="0" rIns="0" bIns="0" rtlCol="0" anchor="ctr"/>
          <a:lstStyle/>
          <a:p>
            <a:pPr indent="0" marL="0">
              <a:lnSpc>
                <a:spcPts val="2000"/>
              </a:lnSpc>
              <a:buNone/>
            </a:pPr>
            <a:r>
              <a:rPr lang="en-US" sz="1250" dirty="0">
                <a:solidFill>
                  <a:srgbClr val="3D4650"/>
                </a:solidFill>
                <a:latin typeface="Inter" pitchFamily="34" charset="0"/>
                <a:ea typeface="Inter" pitchFamily="34" charset="-122"/>
                <a:cs typeface="Inter" pitchFamily="34" charset="-120"/>
              </a:rPr>
              <a:t>FILLIT delivers diesel on demand across the UAE, from 100 litres to 5 million, at a certified 10ppm specification, with GPS tracking and 24/7 dispatch. Its buyers are fleet and plant managers, site and project managers, marine operators and procurement leads.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HOW THE RESEARCH WAS DONE</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Three days at a desk, then six weeks on the road.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We began with desk research and cold calls for the first three days only, then moved entirely to in-person field visits.</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325880"/>
                <a:gridCol w="5852160"/>
                <a:gridCol w="4919472"/>
              </a:tblGrid>
              <a:tr h="84124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Phase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we did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it told us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841248">
                <a:tc>
                  <a:txBody>
                    <a:bodyPr/>
                    <a:lstStyle/>
                    <a:p>
                      <a:pPr indent="0" marL="0">
                        <a:buNone/>
                      </a:pPr>
                      <a:r>
                        <a:rPr lang="en-US" sz="1100" b="1" dirty="0">
                          <a:solidFill>
                            <a:srgbClr val="C91E2C"/>
                          </a:solidFill>
                          <a:latin typeface="Inter" pitchFamily="34" charset="0"/>
                          <a:ea typeface="Inter" pitchFamily="34" charset="-122"/>
                          <a:cs typeface="Inter" pitchFamily="34" charset="-120"/>
                        </a:rPr>
                        <a:t>First 3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Desk research. Company websites, LinkedIn pages and trade directories to build a picture of who burns diesel in the UAE.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Gave us a starting prospect list and a working vocabulary for the industry.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41248">
                <a:tc>
                  <a:txBody>
                    <a:bodyPr/>
                    <a:lstStyle/>
                    <a:p>
                      <a:pPr indent="0" marL="0">
                        <a:buNone/>
                      </a:pPr>
                      <a:r>
                        <a:rPr lang="en-US" sz="1100" b="1" dirty="0">
                          <a:solidFill>
                            <a:srgbClr val="C91E2C"/>
                          </a:solidFill>
                          <a:latin typeface="Inter" pitchFamily="34" charset="0"/>
                          <a:ea typeface="Inter" pitchFamily="34" charset="-122"/>
                          <a:cs typeface="Inter" pitchFamily="34" charset="-120"/>
                        </a:rPr>
                        <a:t>First 3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Cold calls. Phone outreach to test the pitch and learn the objections before going door to door.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Taught us which questions actually get answered on a first contact.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41248">
                <a:tc>
                  <a:txBody>
                    <a:bodyPr/>
                    <a:lstStyle/>
                    <a:p>
                      <a:pPr indent="0" marL="0">
                        <a:buNone/>
                      </a:pPr>
                      <a:r>
                        <a:rPr lang="en-US" sz="1100" b="1" dirty="0">
                          <a:solidFill>
                            <a:srgbClr val="2E7D4F"/>
                          </a:solidFill>
                          <a:latin typeface="Inter" pitchFamily="34" charset="0"/>
                          <a:ea typeface="Inter" pitchFamily="34" charset="-122"/>
                          <a:cs typeface="Inter" pitchFamily="34" charset="-120"/>
                        </a:rPr>
                        <a:t>Weeks 1 to 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651 in-person field visits. Turn up unannounced, ask reception for the fuel buyer, run the same five questions, log it the same day.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Produced the entire dataset behind this presentation.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Text 4"/>
          <p:cNvSpPr txBox="1"/>
          <p:nvPr/>
        </p:nvSpPr>
        <p:spPr>
          <a:xfrm>
            <a:off x="502920" y="5596128"/>
            <a:ext cx="11185855" cy="38404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The five questions, every time:   Who supplies you today?   ·   How much do you use?   ·   What burns it?   ·   What goes wrong?   ·   Who decides?</a:t>
            </a:r>
            <a:endParaRPr lang="en-US" sz="1200" dirty="0"/>
          </a:p>
        </p:txBody>
      </p:sp>
      <p:sp>
        <p:nvSpPr>
          <p:cNvPr id="8" name="Shape 5"/>
          <p:cNvSpPr/>
          <p:nvPr/>
        </p:nvSpPr>
        <p:spPr>
          <a:xfrm>
            <a:off x="502920" y="6144768"/>
            <a:ext cx="11185855" cy="475488"/>
          </a:xfrm>
          <a:prstGeom prst="rect">
            <a:avLst/>
          </a:prstGeom>
          <a:solidFill>
            <a:srgbClr val="FCF3F4"/>
          </a:solidFill>
          <a:ln/>
        </p:spPr>
      </p:sp>
      <p:sp>
        <p:nvSpPr>
          <p:cNvPr id="9" name="Shape 6"/>
          <p:cNvSpPr/>
          <p:nvPr/>
        </p:nvSpPr>
        <p:spPr>
          <a:xfrm>
            <a:off x="502920" y="6144768"/>
            <a:ext cx="50292" cy="475488"/>
          </a:xfrm>
          <a:prstGeom prst="rect">
            <a:avLst/>
          </a:prstGeom>
          <a:solidFill>
            <a:srgbClr val="C91E2C"/>
          </a:solidFill>
          <a:ln/>
        </p:spPr>
      </p:sp>
      <p:sp>
        <p:nvSpPr>
          <p:cNvPr id="10" name="Text 7"/>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Week 1 in the field returned a 59.5% dead-end rate. That told us the list was the problem, so we started building our own.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THE MARKET WE MAPPED</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568 companies, every one classified.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651 field visits resolved to 568 unique companies. Each is shown at its latest status; where colour and written interest level differed, interest level was used.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691640"/>
                <a:gridCol w="1188720"/>
                <a:gridCol w="1005840"/>
                <a:gridCol w="7296912"/>
              </a:tblGrid>
              <a:tr h="484632">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Status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Share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it means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84632">
                <a:tc>
                  <a:txBody>
                    <a:bodyPr/>
                    <a:lstStyle/>
                    <a:p>
                      <a:pPr indent="0" marL="0">
                        <a:buNone/>
                      </a:pPr>
                      <a:r>
                        <a:rPr lang="en-US" sz="1150" b="1" dirty="0">
                          <a:solidFill>
                            <a:srgbClr val="2E7D4F"/>
                          </a:solidFill>
                          <a:latin typeface="Inter" pitchFamily="34" charset="0"/>
                          <a:ea typeface="Inter" pitchFamily="34" charset="-122"/>
                          <a:cs typeface="Inter" pitchFamily="34" charset="-120"/>
                        </a:rPr>
                        <a:t>Hot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23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4.0%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Using diesel, high intent. Asked for a quote, sample or visit.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84632">
                <a:tc>
                  <a:txBody>
                    <a:bodyPr/>
                    <a:lstStyle/>
                    <a:p>
                      <a:pPr indent="0" marL="0">
                        <a:buNone/>
                      </a:pPr>
                      <a:r>
                        <a:rPr lang="en-US" sz="1150" b="1" dirty="0">
                          <a:solidFill>
                            <a:srgbClr val="7BA05B"/>
                          </a:solidFill>
                          <a:latin typeface="Inter" pitchFamily="34" charset="0"/>
                          <a:ea typeface="Inter" pitchFamily="34" charset="-122"/>
                          <a:cs typeface="Inter" pitchFamily="34" charset="-120"/>
                        </a:rPr>
                        <a:t>Warm</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39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6.9%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Using diesel, interested, needs a follow-up.</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84632">
                <a:tc>
                  <a:txBody>
                    <a:bodyPr/>
                    <a:lstStyle/>
                    <a:p>
                      <a:pPr indent="0" marL="0">
                        <a:buNone/>
                      </a:pPr>
                      <a:r>
                        <a:rPr lang="en-US" sz="1150" b="1" dirty="0">
                          <a:solidFill>
                            <a:srgbClr val="6E7F5E"/>
                          </a:solidFill>
                          <a:latin typeface="Inter" pitchFamily="34" charset="0"/>
                          <a:ea typeface="Inter" pitchFamily="34" charset="-122"/>
                          <a:cs typeface="Inter" pitchFamily="34" charset="-120"/>
                        </a:rPr>
                        <a:t>Cold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95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16.7%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Confirmed diesel user, not ready to switch. A nurture list.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84632">
                <a:tc>
                  <a:txBody>
                    <a:bodyPr/>
                    <a:lstStyle/>
                    <a:p>
                      <a:pPr indent="0" marL="0">
                        <a:buNone/>
                      </a:pPr>
                      <a:r>
                        <a:rPr lang="en-US" sz="1150" b="1" dirty="0">
                          <a:solidFill>
                            <a:srgbClr val="B8891F"/>
                          </a:solidFill>
                          <a:latin typeface="Inter" pitchFamily="34" charset="0"/>
                          <a:ea typeface="Inter" pitchFamily="34" charset="-122"/>
                          <a:cs typeface="Inter" pitchFamily="34" charset="-120"/>
                        </a:rPr>
                        <a:t>Appointment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90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15.8%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Could not get in. Free zone, permit or gate pass needed.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84632">
                <a:tc>
                  <a:txBody>
                    <a:bodyPr/>
                    <a:lstStyle/>
                    <a:p>
                      <a:pPr indent="0" marL="0">
                        <a:buNone/>
                      </a:pPr>
                      <a:r>
                        <a:rPr lang="en-US" sz="1150" b="1" dirty="0">
                          <a:solidFill>
                            <a:srgbClr val="B3661F"/>
                          </a:solidFill>
                          <a:latin typeface="Inter" pitchFamily="34" charset="0"/>
                          <a:ea typeface="Inter" pitchFamily="34" charset="-122"/>
                          <a:cs typeface="Inter" pitchFamily="34" charset="-120"/>
                        </a:rPr>
                        <a:t>Revisit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104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18.3%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Unresolved. The process stopped, the company did not.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84632">
                <a:tc>
                  <a:txBody>
                    <a:bodyPr/>
                    <a:lstStyle/>
                    <a:p>
                      <a:pPr indent="0" marL="0">
                        <a:buNone/>
                      </a:pPr>
                      <a:r>
                        <a:rPr lang="en-US" sz="1150" b="1" dirty="0">
                          <a:solidFill>
                            <a:srgbClr val="B33A3A"/>
                          </a:solidFill>
                          <a:latin typeface="Inter" pitchFamily="34" charset="0"/>
                          <a:ea typeface="Inter" pitchFamily="34" charset="-122"/>
                          <a:cs typeface="Inter" pitchFamily="34" charset="-120"/>
                        </a:rPr>
                        <a:t>Invalid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217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38.2%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Disqualified. Mostly a wrong address rather than no demand.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84632">
                <a:tc>
                  <a:txBody>
                    <a:bodyPr/>
                    <a:lstStyle/>
                    <a:p>
                      <a:pPr indent="0" marL="0">
                        <a:buNone/>
                      </a:pPr>
                      <a:r>
                        <a:rPr lang="en-US" sz="1150" b="1" dirty="0">
                          <a:solidFill>
                            <a:srgbClr val="242126"/>
                          </a:solidFill>
                          <a:latin typeface="Inter" pitchFamily="34" charset="0"/>
                          <a:ea typeface="Inter" pitchFamily="34" charset="-122"/>
                          <a:cs typeface="Inter" pitchFamily="34" charset="-120"/>
                        </a:rPr>
                        <a:t>Total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568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100%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157 confirmed diesel users. 194 more blocked or unresolved.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The addressable pool is not 157. Another 194 companies are blocked or unresolved, not rejected.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THE THREE THINGS WE WERE MEASURED ON</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Our targets, and what each number means.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Set at the start of the internship. A plain English definition sits beside every figure.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828800"/>
                <a:gridCol w="2651760"/>
                <a:gridCol w="1737360"/>
                <a:gridCol w="4965192"/>
              </a:tblGrid>
              <a:tr h="402336">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KPI 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Measure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Result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it means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02336">
                <a:tc>
                  <a:txBody>
                    <a:bodyPr/>
                    <a:lstStyle/>
                    <a:p>
                      <a:pPr indent="0" marL="0">
                        <a:buNone/>
                      </a:pPr>
                      <a:r>
                        <a:rPr lang="en-US" sz="1100" b="1" dirty="0">
                          <a:solidFill>
                            <a:srgbClr val="242126"/>
                          </a:solidFill>
                          <a:latin typeface="Inter" pitchFamily="34" charset="0"/>
                          <a:ea typeface="Inter" pitchFamily="34" charset="-122"/>
                          <a:cs typeface="Inter" pitchFamily="34" charset="-120"/>
                        </a:rPr>
                        <a:t>Outreach volume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Companies contacted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568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Separate businesses reached. Each counted once.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r h="402336">
                <a:tc>
                  <a:txBody>
                    <a:bodyPr/>
                    <a:lstStyle/>
                    <a:p>
                      <a:pPr indent="0" marL="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Field visits made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651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Total visits, including return trips.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02336">
                <a:tc>
                  <a:txBody>
                    <a:bodyPr/>
                    <a:lstStyle/>
                    <a:p>
                      <a:pPr indent="0" marL="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Emirates covered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Dubai, Sharjah, Ajman and Umm Al Quwain.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02336">
                <a:tc>
                  <a:txBody>
                    <a:bodyPr/>
                    <a:lstStyle/>
                    <a:p>
                      <a:pPr indent="0" marL="0">
                        <a:buNone/>
                      </a:pPr>
                      <a:r>
                        <a:rPr lang="en-US" sz="1100" b="1" dirty="0">
                          <a:solidFill>
                            <a:srgbClr val="242126"/>
                          </a:solidFill>
                          <a:latin typeface="Inter" pitchFamily="34" charset="0"/>
                          <a:ea typeface="Inter" pitchFamily="34" charset="-122"/>
                          <a:cs typeface="Inter" pitchFamily="34" charset="-120"/>
                        </a:rPr>
                        <a:t>Lead quality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Confirmed diesel users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157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Companies that actually burn diesel. 27.6% of the book.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r h="402336">
                <a:tc>
                  <a:txBody>
                    <a:bodyPr/>
                    <a:lstStyle/>
                    <a:p>
                      <a:pPr indent="0" marL="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Fuel buyers named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119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The person who decides, with contact details.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02336">
                <a:tc>
                  <a:txBody>
                    <a:bodyPr/>
                    <a:lstStyle/>
                    <a:p>
                      <a:pPr indent="0" marL="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New leads generated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72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Companies on no list. 70.8% of them turned green.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02336">
                <a:tc>
                  <a:txBody>
                    <a:bodyPr/>
                    <a:lstStyle/>
                    <a:p>
                      <a:pPr indent="0" marL="0">
                        <a:buNone/>
                      </a:pPr>
                      <a:r>
                        <a:rPr lang="en-US" sz="1100" b="1" dirty="0">
                          <a:solidFill>
                            <a:srgbClr val="242126"/>
                          </a:solidFill>
                          <a:latin typeface="Inter" pitchFamily="34" charset="0"/>
                          <a:ea typeface="Inter" pitchFamily="34" charset="-122"/>
                          <a:cs typeface="Inter" pitchFamily="34" charset="-120"/>
                        </a:rPr>
                        <a:t>Standard of work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Companies classified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568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Every one given a final status. None left blank.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r h="402336">
                <a:tc>
                  <a:txBody>
                    <a:bodyPr/>
                    <a:lstStyle/>
                    <a:p>
                      <a:pPr indent="0" marL="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Weeks delivered on time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6 of 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Every weekly sheet consolidated on schedule.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02336">
                <a:tc>
                  <a:txBody>
                    <a:bodyPr/>
                    <a:lstStyle/>
                    <a:p>
                      <a:pPr indent="0" marL="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Dead-end rate, Week 1 to Week 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59.5% to 18.8%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Fell by two thirds once we began generating our own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72 new leads was a target in its own right, and those leads turned green 3.3 times more often.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WEEKLY PROGRESS</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Week 1 taught us to stop working the list.</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Week 1 produced a 59.5% dead-end rate and no self-generated leads. From Week 2 it fell to as low as 18.8%.</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463040"/>
                <a:gridCol w="1234440"/>
                <a:gridCol w="868680"/>
                <a:gridCol w="960120"/>
                <a:gridCol w="960120"/>
                <a:gridCol w="1600200"/>
                <a:gridCol w="1874520"/>
                <a:gridCol w="2221992"/>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Week</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Visits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Dead-end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New leads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Week 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121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B33A3A"/>
                          </a:solidFill>
                          <a:latin typeface="Inter" pitchFamily="34" charset="0"/>
                          <a:ea typeface="Inter" pitchFamily="34" charset="-122"/>
                          <a:cs typeface="Inter" pitchFamily="34" charset="-120"/>
                        </a:rPr>
                        <a:t>13.2%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B33A3A"/>
                          </a:solidFill>
                          <a:latin typeface="Inter" pitchFamily="34" charset="0"/>
                          <a:ea typeface="Inter" pitchFamily="34" charset="-122"/>
                          <a:cs typeface="Inter" pitchFamily="34" charset="-120"/>
                        </a:rPr>
                        <a:t>59.5%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Week 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120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26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37.5%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30.0%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15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Week 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96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24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31.2%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30.2%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18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Week 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96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27.1%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18.8%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19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Week 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16.4%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19.8%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E7D4F"/>
                          </a:solidFill>
                          <a:latin typeface="Inter" pitchFamily="34" charset="0"/>
                          <a:ea typeface="Inter" pitchFamily="34" charset="-122"/>
                          <a:cs typeface="Inter" pitchFamily="34" charset="-120"/>
                        </a:rPr>
                        <a:t>20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Week 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102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21.6%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B33A3A"/>
                          </a:solidFill>
                          <a:latin typeface="Inter" pitchFamily="34" charset="0"/>
                          <a:ea typeface="Inter" pitchFamily="34" charset="-122"/>
                          <a:cs typeface="Inter" pitchFamily="34" charset="-120"/>
                        </a:rPr>
                        <a:t>46.1%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3D4650"/>
                          </a:solidFill>
                          <a:latin typeface="Inter" pitchFamily="34" charset="0"/>
                          <a:ea typeface="Inter" pitchFamily="34" charset="-122"/>
                          <a:cs typeface="Inter" pitchFamily="34" charset="-120"/>
                        </a:rPr>
                        <a:t>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Total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651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23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39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96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24.3%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34.6%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72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Weeks 2 to 5, when we generated our own leads, ran at 19% to 30% dead ends. Week 6 was mostly revisits and gated sites.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WHAT CUSTOMERS ACTUALLY TOLD US</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Every major pain point appears only beside a live lead.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Text-mined from the comments, pain points, fleet and supplier fields across all 568 companies. A company can raise more than one.</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3931920"/>
                <a:gridCol w="1234440"/>
                <a:gridCol w="822960"/>
                <a:gridCol w="914400"/>
                <a:gridCol w="914400"/>
                <a:gridCol w="1600200"/>
                <a:gridCol w="1764792"/>
              </a:tblGrid>
              <a:tr h="352044">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Pain point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Share green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Severity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352044">
                <a:tc>
                  <a:txBody>
                    <a:bodyPr/>
                    <a:lstStyle/>
                    <a:p>
                      <a:pPr indent="0" marL="0">
                        <a:buNone/>
                      </a:pPr>
                      <a:r>
                        <a:rPr lang="en-US" sz="1100" b="1" dirty="0">
                          <a:solidFill>
                            <a:srgbClr val="242126"/>
                          </a:solidFill>
                          <a:latin typeface="Inter" pitchFamily="34" charset="0"/>
                          <a:ea typeface="Inter" pitchFamily="34" charset="-122"/>
                          <a:cs typeface="Inter" pitchFamily="34" charset="-120"/>
                        </a:rPr>
                        <a:t>Equipment, generator and forklift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66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27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91%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b="1" dirty="0">
                          <a:solidFill>
                            <a:srgbClr val="242126"/>
                          </a:solidFill>
                          <a:latin typeface="Inter" pitchFamily="34" charset="0"/>
                          <a:ea typeface="Inter" pitchFamily="34" charset="-122"/>
                          <a:cs typeface="Inter" pitchFamily="34" charset="-120"/>
                        </a:rPr>
                        <a:t>Vehicles driven to a station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25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b="1" dirty="0">
                          <a:solidFill>
                            <a:srgbClr val="242126"/>
                          </a:solidFill>
                          <a:latin typeface="Inter" pitchFamily="34" charset="0"/>
                          <a:ea typeface="Inter" pitchFamily="34" charset="-122"/>
                          <a:cs typeface="Inter" pitchFamily="34" charset="-120"/>
                        </a:rPr>
                        <a:t>Price and rate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21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b="1" dirty="0">
                          <a:solidFill>
                            <a:srgbClr val="242126"/>
                          </a:solidFill>
                          <a:latin typeface="Inter" pitchFamily="34" charset="0"/>
                          <a:ea typeface="Inter" pitchFamily="34" charset="-122"/>
                          <a:cs typeface="Inter" pitchFamily="34" charset="-120"/>
                        </a:rPr>
                        <a:t>CAFU service failure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20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b="1" dirty="0">
                          <a:solidFill>
                            <a:srgbClr val="242126"/>
                          </a:solidFill>
                          <a:latin typeface="Inter" pitchFamily="34" charset="0"/>
                          <a:ea typeface="Inter" pitchFamily="34" charset="-122"/>
                          <a:cs typeface="Inter" pitchFamily="34" charset="-120"/>
                        </a:rPr>
                        <a:t>Delivery and on-site refuelling</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18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89%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b="1" dirty="0">
                          <a:solidFill>
                            <a:srgbClr val="242126"/>
                          </a:solidFill>
                          <a:latin typeface="Inter" pitchFamily="34" charset="0"/>
                          <a:ea typeface="Inter" pitchFamily="34" charset="-122"/>
                          <a:cs typeface="Inter" pitchFamily="34" charset="-120"/>
                        </a:rPr>
                        <a:t>Fuel quality and 10ppm spec</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16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dirty="0">
                          <a:solidFill>
                            <a:srgbClr val="242126"/>
                          </a:solidFill>
                          <a:latin typeface="Inter" pitchFamily="34" charset="0"/>
                          <a:ea typeface="Inter" pitchFamily="34" charset="-122"/>
                          <a:cs typeface="Inter" pitchFamily="34" charset="-120"/>
                        </a:rPr>
                        <a:t>ADNOC / ENOC chip and prepaid friction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13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Moderate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dirty="0">
                          <a:solidFill>
                            <a:srgbClr val="242126"/>
                          </a:solidFill>
                          <a:latin typeface="Inter" pitchFamily="34" charset="0"/>
                          <a:ea typeface="Inter" pitchFamily="34" charset="-122"/>
                          <a:cs typeface="Inter" pitchFamily="34" charset="-120"/>
                        </a:rPr>
                        <a:t>Credit and payment terms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High value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dirty="0">
                          <a:solidFill>
                            <a:srgbClr val="242126"/>
                          </a:solidFill>
                          <a:latin typeface="Inter" pitchFamily="34" charset="0"/>
                          <a:ea typeface="Inter" pitchFamily="34" charset="-122"/>
                          <a:cs typeface="Inter" pitchFamily="34" charset="-120"/>
                        </a:rPr>
                        <a:t>Trust and vendor verification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80%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Moderate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52044">
                <a:tc>
                  <a:txBody>
                    <a:bodyPr/>
                    <a:lstStyle/>
                    <a:p>
                      <a:pPr indent="0" marL="0">
                        <a:buNone/>
                      </a:pPr>
                      <a:r>
                        <a:rPr lang="en-US" sz="1100" dirty="0">
                          <a:solidFill>
                            <a:srgbClr val="242126"/>
                          </a:solidFill>
                          <a:latin typeface="Inter" pitchFamily="34" charset="0"/>
                          <a:ea typeface="Inter" pitchFamily="34" charset="-122"/>
                          <a:cs typeface="Inter" pitchFamily="34" charset="-120"/>
                        </a:rPr>
                        <a:t>Minimum order quantity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Isolated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66 companies raised equipment, generator or forklift refuelling. Price, CAFU and fuel quality appear only beside companies that use diesel.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DECISION MAKERS, BUYING BEHAVIOUR AND OBJECTIONS</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Who decides, how they buy, and what they told us.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Drawn from 651 field visits. Quotations are verbatim, original spelling retained.</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4754880" cy="914400"/>
        </p:xfrm>
        <a:graphic>
          <a:graphicData uri="http://schemas.openxmlformats.org/drawingml/2006/table">
            <a:tbl>
              <a:tblPr/>
              <a:tblGrid>
                <a:gridCol w="3566160"/>
                <a:gridCol w="1188720"/>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How they buy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Evidence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050" b="1" dirty="0">
                          <a:solidFill>
                            <a:srgbClr val="242126"/>
                          </a:solidFill>
                          <a:latin typeface="Inter" pitchFamily="34" charset="0"/>
                          <a:ea typeface="Inter" pitchFamily="34" charset="-122"/>
                          <a:cs typeface="Inter" pitchFamily="34" charset="-120"/>
                        </a:rPr>
                        <a:t>Fuel decision sits with a named buyer</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119 named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b="1" dirty="0">
                          <a:solidFill>
                            <a:srgbClr val="242126"/>
                          </a:solidFill>
                          <a:latin typeface="Inter" pitchFamily="34" charset="0"/>
                          <a:ea typeface="Inter" pitchFamily="34" charset="-122"/>
                          <a:cs typeface="Inter" pitchFamily="34" charset="-120"/>
                        </a:rPr>
                        <a:t>Usually procurement, accounts, operations or owner</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By role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b="1" dirty="0">
                          <a:solidFill>
                            <a:srgbClr val="242126"/>
                          </a:solidFill>
                          <a:latin typeface="Inter" pitchFamily="34" charset="0"/>
                          <a:ea typeface="Inter" pitchFamily="34" charset="-122"/>
                          <a:cs typeface="Inter" pitchFamily="34" charset="-120"/>
                        </a:rPr>
                        <a:t>Locked into ADNOC / ENOC chip or prepaid cards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C91E2C"/>
                          </a:solidFill>
                          <a:latin typeface="Inter" pitchFamily="34" charset="0"/>
                          <a:ea typeface="Inter" pitchFamily="34" charset="-122"/>
                          <a:cs typeface="Inter" pitchFamily="34" charset="-120"/>
                        </a:rPr>
                        <a:t>13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b="1" dirty="0">
                          <a:solidFill>
                            <a:srgbClr val="242126"/>
                          </a:solidFill>
                          <a:latin typeface="Inter" pitchFamily="34" charset="0"/>
                          <a:ea typeface="Inter" pitchFamily="34" charset="-122"/>
                          <a:cs typeface="Inter" pitchFamily="34" charset="-120"/>
                        </a:rPr>
                        <a:t>Buys from unverified independent traders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C91E2C"/>
                          </a:solidFill>
                          <a:latin typeface="Inter" pitchFamily="34" charset="0"/>
                          <a:ea typeface="Inter" pitchFamily="34" charset="-122"/>
                          <a:cs typeface="Inter" pitchFamily="34" charset="-120"/>
                        </a:rPr>
                        <a:t>35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b="1" dirty="0">
                          <a:solidFill>
                            <a:srgbClr val="242126"/>
                          </a:solidFill>
                          <a:latin typeface="Inter" pitchFamily="34" charset="0"/>
                          <a:ea typeface="Inter" pitchFamily="34" charset="-122"/>
                          <a:cs typeface="Inter" pitchFamily="34" charset="-120"/>
                        </a:rPr>
                        <a:t>Drives vehicles to a retail station</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C91E2C"/>
                          </a:solidFill>
                          <a:latin typeface="Inter" pitchFamily="34" charset="0"/>
                          <a:ea typeface="Inter" pitchFamily="34" charset="-122"/>
                          <a:cs typeface="Inter" pitchFamily="34" charset="-120"/>
                        </a:rPr>
                        <a:t>28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b="1" dirty="0">
                          <a:solidFill>
                            <a:srgbClr val="242126"/>
                          </a:solidFill>
                          <a:latin typeface="Inter" pitchFamily="34" charset="0"/>
                          <a:ea typeface="Inter" pitchFamily="34" charset="-122"/>
                          <a:cs typeface="Inter" pitchFamily="34" charset="-120"/>
                        </a:rPr>
                        <a:t>Asks for credit terms before switching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B8891F"/>
                          </a:solidFill>
                          <a:latin typeface="Inter" pitchFamily="34" charset="0"/>
                          <a:ea typeface="Inter" pitchFamily="34" charset="-122"/>
                          <a:cs typeface="Inter" pitchFamily="34" charset="-120"/>
                        </a:rPr>
                        <a:t>9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0" y="1956816"/>
          <a:ext cx="6199632" cy="914400"/>
        </p:xfrm>
        <a:graphic>
          <a:graphicData uri="http://schemas.openxmlformats.org/drawingml/2006/table">
            <a:tbl>
              <a:tblPr/>
              <a:tblGrid>
                <a:gridCol w="4069080"/>
                <a:gridCol w="2130552"/>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they said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Company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000" dirty="0">
                          <a:solidFill>
                            <a:srgbClr val="242126"/>
                          </a:solidFill>
                          <a:latin typeface="Inter" pitchFamily="34" charset="0"/>
                          <a:ea typeface="Inter" pitchFamily="34" charset="-122"/>
                          <a:cs typeface="Inter" pitchFamily="34" charset="-120"/>
                        </a:rPr>
                        <a:t>“They used to take from Cafu, but cafu stopped delivering”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SHJ Carbon Factory, Hot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dirty="0">
                          <a:solidFill>
                            <a:srgbClr val="242126"/>
                          </a:solidFill>
                          <a:latin typeface="Inter" pitchFamily="34" charset="0"/>
                          <a:ea typeface="Inter" pitchFamily="34" charset="-122"/>
                          <a:cs typeface="Inter" pitchFamily="34" charset="-120"/>
                        </a:rPr>
                        <a:t>“Low quality fuel is reducing their vehicle's efficiency”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Uniforce Contracting, Hot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dirty="0">
                          <a:solidFill>
                            <a:srgbClr val="242126"/>
                          </a:solidFill>
                          <a:latin typeface="Inter" pitchFamily="34" charset="0"/>
                          <a:ea typeface="Inter" pitchFamily="34" charset="-122"/>
                          <a:cs typeface="Inter" pitchFamily="34" charset="-120"/>
                        </a:rPr>
                        <a:t>“ADNOC has minimum quantity requirement”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SCA Shipping, Hot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dirty="0">
                          <a:solidFill>
                            <a:srgbClr val="242126"/>
                          </a:solidFill>
                          <a:latin typeface="Inter" pitchFamily="34" charset="0"/>
                          <a:ea typeface="Inter" pitchFamily="34" charset="-122"/>
                          <a:cs typeface="Inter" pitchFamily="34" charset="-120"/>
                        </a:rPr>
                        <a:t>“Contract with CAFU in 2025 but they stole their credit”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Al Jalal Trading, Warm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dirty="0">
                          <a:solidFill>
                            <a:srgbClr val="242126"/>
                          </a:solidFill>
                          <a:latin typeface="Inter" pitchFamily="34" charset="0"/>
                          <a:ea typeface="Inter" pitchFamily="34" charset="-122"/>
                          <a:cs typeface="Inter" pitchFamily="34" charset="-120"/>
                        </a:rPr>
                        <a:t>“No trust on door step delivery”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Main Crete Contracting, Warm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dirty="0">
                          <a:solidFill>
                            <a:srgbClr val="242126"/>
                          </a:solidFill>
                          <a:latin typeface="Inter" pitchFamily="34" charset="0"/>
                          <a:ea typeface="Inter" pitchFamily="34" charset="-122"/>
                          <a:cs typeface="Inter" pitchFamily="34" charset="-120"/>
                        </a:rPr>
                        <a:t>“Facing problems with ADNOC chip, need to topup”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Daira Carpentry, Warm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8" name="Shape 4"/>
          <p:cNvSpPr/>
          <p:nvPr/>
        </p:nvSpPr>
        <p:spPr>
          <a:xfrm>
            <a:off x="502920" y="6144768"/>
            <a:ext cx="11185855" cy="475488"/>
          </a:xfrm>
          <a:prstGeom prst="rect">
            <a:avLst/>
          </a:prstGeom>
          <a:solidFill>
            <a:srgbClr val="FCF3F4"/>
          </a:solidFill>
          <a:ln/>
        </p:spPr>
      </p:sp>
      <p:sp>
        <p:nvSpPr>
          <p:cNvPr id="9" name="Shape 5"/>
          <p:cNvSpPr/>
          <p:nvPr/>
        </p:nvSpPr>
        <p:spPr>
          <a:xfrm>
            <a:off x="502920" y="6144768"/>
            <a:ext cx="50292" cy="475488"/>
          </a:xfrm>
          <a:prstGeom prst="rect">
            <a:avLst/>
          </a:prstGeom>
          <a:solidFill>
            <a:srgbClr val="2E7D4F"/>
          </a:solidFill>
          <a:ln/>
        </p:spPr>
      </p:sp>
      <p:sp>
        <p:nvSpPr>
          <p:cNvPr id="10"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The common objections are reliability, quality, trust and access. Almost none are about price.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THE BARRIER NOBODY HAS PRICED</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90 companies are blocked, not disqualified.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Free zone entry, appointment protocols and gate passes. All solvable with administration rather than more visits.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3383280"/>
                <a:gridCol w="1463040"/>
                <a:gridCol w="6336792"/>
              </a:tblGrid>
              <a:tr h="65836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Barrier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is actually needed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Inside a free zone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500" b="1" dirty="0">
                          <a:solidFill>
                            <a:srgbClr val="B8891F"/>
                          </a:solidFill>
                          <a:latin typeface="Inter" pitchFamily="34" charset="0"/>
                          <a:ea typeface="Inter" pitchFamily="34" charset="-122"/>
                          <a:cs typeface="Inter" pitchFamily="34" charset="-120"/>
                        </a:rPr>
                        <a:t>47</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A registered free-zone access pass. JAFZA, Hamriyah and Dubai Industrial City.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Booked appointment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500" b="1" dirty="0">
                          <a:solidFill>
                            <a:srgbClr val="41616F"/>
                          </a:solidFill>
                          <a:latin typeface="Inter" pitchFamily="34" charset="0"/>
                          <a:ea typeface="Inter" pitchFamily="34" charset="-122"/>
                          <a:cs typeface="Inter" pitchFamily="34" charset="-120"/>
                        </a:rPr>
                        <a:t>43</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A scheduled meeting rather than a walk-in. Mostly larger corporates.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Gate pass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500" b="1" dirty="0">
                          <a:solidFill>
                            <a:srgbClr val="41616F"/>
                          </a:solidFill>
                          <a:latin typeface="Inter" pitchFamily="34" charset="0"/>
                          <a:ea typeface="Inter" pitchFamily="34" charset="-122"/>
                          <a:cs typeface="Inter" pitchFamily="34" charset="-120"/>
                        </a:rPr>
                        <a:t>44</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Site-level security clearance, usually arranged in advance by the client.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Of which: Jebel Ali / JAFZA</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500" b="1" dirty="0">
                          <a:solidFill>
                            <a:srgbClr val="B33A3A"/>
                          </a:solidFill>
                          <a:latin typeface="Inter" pitchFamily="34" charset="0"/>
                          <a:ea typeface="Inter" pitchFamily="34" charset="-122"/>
                          <a:cs typeface="Inter" pitchFamily="34" charset="-120"/>
                        </a:rPr>
                        <a:t>62</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62 companies visited, 40 blocked at the gate, and zero Hot leads recorded.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r>
            </a:tbl>
          </a:graphicData>
        </a:graphic>
      </p:graphicFrame>
      <p:sp>
        <p:nvSpPr>
          <p:cNvPr id="7" name="Text 4"/>
          <p:cNvSpPr txBox="1"/>
          <p:nvPr/>
        </p:nvSpPr>
        <p:spPr>
          <a:xfrm>
            <a:off x="502920" y="5349240"/>
            <a:ext cx="11185855" cy="384048"/>
          </a:xfrm>
          <a:prstGeom prst="rect">
            <a:avLst/>
          </a:prstGeom>
          <a:noFill/>
          <a:ln/>
        </p:spPr>
        <p:txBody>
          <a:bodyPr wrap="square" lIns="0" tIns="0" rIns="0" bIns="0" rtlCol="0" anchor="ctr"/>
          <a:lstStyle/>
          <a:p>
            <a:pPr indent="0" marL="0">
              <a:buNone/>
            </a:pPr>
            <a:r>
              <a:rPr lang="en-US" sz="1250" dirty="0">
                <a:solidFill>
                  <a:srgbClr val="3D4650"/>
                </a:solidFill>
                <a:latin typeface="Inter" pitchFamily="34" charset="0"/>
                <a:ea typeface="Inter" pitchFamily="34" charset="-122"/>
                <a:cs typeface="Inter" pitchFamily="34" charset="-120"/>
              </a:rPr>
              <a:t>A company can face more than one barrier, so the rows overlap. The workbook has a Passes Required field for this problem; it holds two entries against 90 blocked companies.</a:t>
            </a:r>
            <a:endParaRPr lang="en-US" sz="1250" dirty="0"/>
          </a:p>
        </p:txBody>
      </p:sp>
      <p:sp>
        <p:nvSpPr>
          <p:cNvPr id="8" name="Shape 5"/>
          <p:cNvSpPr/>
          <p:nvPr/>
        </p:nvSpPr>
        <p:spPr>
          <a:xfrm>
            <a:off x="502920" y="6144768"/>
            <a:ext cx="11185855" cy="475488"/>
          </a:xfrm>
          <a:prstGeom prst="rect">
            <a:avLst/>
          </a:prstGeom>
          <a:solidFill>
            <a:srgbClr val="FCF3F4"/>
          </a:solidFill>
          <a:ln/>
        </p:spPr>
      </p:sp>
      <p:sp>
        <p:nvSpPr>
          <p:cNvPr id="9" name="Shape 6"/>
          <p:cNvSpPr/>
          <p:nvPr/>
        </p:nvSpPr>
        <p:spPr>
          <a:xfrm>
            <a:off x="502920" y="6144768"/>
            <a:ext cx="50292" cy="475488"/>
          </a:xfrm>
          <a:prstGeom prst="rect">
            <a:avLst/>
          </a:prstGeom>
          <a:solidFill>
            <a:srgbClr val="2E7D4F"/>
          </a:solidFill>
          <a:ln/>
        </p:spPr>
      </p:sp>
      <p:sp>
        <p:nvSpPr>
          <p:cNvPr id="10" name="Text 7"/>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Buying access is cheaper than buying more field days.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WHERE THE DEMAND CONCENTRATES</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400" b="1" dirty="0">
                <a:solidFill>
                  <a:srgbClr val="242126"/>
                </a:solidFill>
                <a:latin typeface="Archivo" pitchFamily="34" charset="0"/>
                <a:ea typeface="Archivo" pitchFamily="34" charset="-122"/>
                <a:cs typeface="Archivo" pitchFamily="34" charset="-120"/>
              </a:rPr>
              <a:t>Metals converted at 65%. Contracting took 37% of our visits and returned 23%.</a:t>
            </a:r>
            <a:endParaRPr lang="en-US" sz="24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Green rate means the share of companies confirmed as diesel users: Hot, Warm or Cold.</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3931920"/>
                <a:gridCol w="1188720"/>
                <a:gridCol w="822960"/>
                <a:gridCol w="914400"/>
                <a:gridCol w="914400"/>
                <a:gridCol w="1600200"/>
                <a:gridCol w="1810512"/>
              </a:tblGrid>
              <a:tr h="29718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Industry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Visited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New leads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297180">
                <a:tc>
                  <a:txBody>
                    <a:bodyPr/>
                    <a:lstStyle/>
                    <a:p>
                      <a:pPr indent="0" marL="0">
                        <a:buNone/>
                      </a:pPr>
                      <a:r>
                        <a:rPr lang="en-US" sz="1050" b="1" dirty="0">
                          <a:solidFill>
                            <a:srgbClr val="242126"/>
                          </a:solidFill>
                          <a:latin typeface="Inter" pitchFamily="34" charset="0"/>
                          <a:ea typeface="Inter" pitchFamily="34" charset="-122"/>
                          <a:cs typeface="Inter" pitchFamily="34" charset="-120"/>
                        </a:rPr>
                        <a:t>Metal, steel and aluminium</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65.0%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b="1" dirty="0">
                          <a:solidFill>
                            <a:srgbClr val="242126"/>
                          </a:solidFill>
                          <a:latin typeface="Inter" pitchFamily="34" charset="0"/>
                          <a:ea typeface="Inter" pitchFamily="34" charset="-122"/>
                          <a:cs typeface="Inter" pitchFamily="34" charset="-120"/>
                        </a:rPr>
                        <a:t>Food and beverage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45.0%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b="1" dirty="0">
                          <a:solidFill>
                            <a:srgbClr val="242126"/>
                          </a:solidFill>
                          <a:latin typeface="Inter" pitchFamily="34" charset="0"/>
                          <a:ea typeface="Inter" pitchFamily="34" charset="-122"/>
                          <a:cs typeface="Inter" pitchFamily="34" charset="-120"/>
                        </a:rPr>
                        <a:t>Auto workshop and equipment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44.4%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Trading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33.3%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Manufacturing and factory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48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31.2%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Plastics and packaging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30.4%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Marine, boats and shipping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63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25.4%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19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Building and civil contracting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209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32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23.0%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17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Electro-mechanical and MEP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20.0%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Transport, logistics and fleet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59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15.3%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Healthcare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14.3%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3D4650"/>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050" dirty="0">
                          <a:solidFill>
                            <a:srgbClr val="242126"/>
                          </a:solidFill>
                          <a:latin typeface="Inter" pitchFamily="34" charset="0"/>
                          <a:ea typeface="Inter" pitchFamily="34" charset="-122"/>
                          <a:cs typeface="Inter" pitchFamily="34" charset="-120"/>
                        </a:rPr>
                        <a:t>Other / unclassified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77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3D4650"/>
                          </a:solidFill>
                          <a:latin typeface="Inter" pitchFamily="34" charset="0"/>
                          <a:ea typeface="Inter" pitchFamily="34" charset="-122"/>
                          <a:cs typeface="Inter" pitchFamily="34" charset="-120"/>
                        </a:rPr>
                        <a:t>32.5%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E7D4F"/>
                          </a:solidFill>
                          <a:latin typeface="Inter" pitchFamily="34" charset="0"/>
                          <a:ea typeface="Inter" pitchFamily="34" charset="-122"/>
                          <a:cs typeface="Inter" pitchFamily="34" charset="-120"/>
                        </a:rPr>
                        <a:t>18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Marine and boat building is the sleeper: 63 companies, and 19 of our 72 self-generated leads came from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WHERE THE DEMAND CONCENTRATES</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400" b="1" dirty="0">
                <a:solidFill>
                  <a:srgbClr val="242126"/>
                </a:solidFill>
                <a:latin typeface="Archivo" pitchFamily="34" charset="0"/>
                <a:ea typeface="Archivo" pitchFamily="34" charset="-122"/>
                <a:cs typeface="Archivo" pitchFamily="34" charset="-120"/>
              </a:rPr>
              <a:t>Al Sajaa returned 84.6% green. Jebel Ali returned no Hot leads at all.</a:t>
            </a:r>
            <a:endParaRPr lang="en-US" sz="24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Jebel Ali is not a demand problem. 40 of its 62 companies were blocked at the gate.</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4572000"/>
                <a:gridCol w="2377440"/>
                <a:gridCol w="2103120"/>
                <a:gridCol w="2130552"/>
              </a:tblGrid>
              <a:tr h="29718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 visited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Visits per Hot lead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297180">
                <a:tc>
                  <a:txBody>
                    <a:bodyPr/>
                    <a:lstStyle/>
                    <a:p>
                      <a:pPr indent="0" marL="0">
                        <a:buNone/>
                      </a:pPr>
                      <a:r>
                        <a:rPr lang="en-US" sz="1100" b="1" dirty="0">
                          <a:solidFill>
                            <a:srgbClr val="242126"/>
                          </a:solidFill>
                          <a:latin typeface="Inter" pitchFamily="34" charset="0"/>
                          <a:ea typeface="Inter" pitchFamily="34" charset="-122"/>
                          <a:cs typeface="Inter" pitchFamily="34" charset="-120"/>
                        </a:rPr>
                        <a:t>Al Sajaa, Sharjah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84.6%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13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b="1" dirty="0">
                          <a:solidFill>
                            <a:srgbClr val="242126"/>
                          </a:solidFill>
                          <a:latin typeface="Inter" pitchFamily="34" charset="0"/>
                          <a:ea typeface="Inter" pitchFamily="34" charset="-122"/>
                          <a:cs typeface="Inter" pitchFamily="34" charset="-120"/>
                        </a:rPr>
                        <a:t>Warsan / International City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66.7%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b="1" dirty="0">
                          <a:solidFill>
                            <a:srgbClr val="242126"/>
                          </a:solidFill>
                          <a:latin typeface="Inter" pitchFamily="34" charset="0"/>
                          <a:ea typeface="Inter" pitchFamily="34" charset="-122"/>
                          <a:cs typeface="Inter" pitchFamily="34" charset="-120"/>
                        </a:rPr>
                        <a:t>Dubai Industrial City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26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50.0%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9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b="1" dirty="0">
                          <a:solidFill>
                            <a:srgbClr val="242126"/>
                          </a:solidFill>
                          <a:latin typeface="Inter" pitchFamily="34" charset="0"/>
                          <a:ea typeface="Inter" pitchFamily="34" charset="-122"/>
                          <a:cs typeface="Inter" pitchFamily="34" charset="-120"/>
                        </a:rPr>
                        <a:t>Nadd Al Hamar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50.0%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b="1" dirty="0">
                          <a:solidFill>
                            <a:srgbClr val="242126"/>
                          </a:solidFill>
                          <a:latin typeface="Inter" pitchFamily="34" charset="0"/>
                          <a:ea typeface="Inter" pitchFamily="34" charset="-122"/>
                          <a:cs typeface="Inter" pitchFamily="34" charset="-120"/>
                        </a:rPr>
                        <a:t>Dubai Investment Park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32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2E7D4F"/>
                          </a:solidFill>
                          <a:latin typeface="Inter" pitchFamily="34" charset="0"/>
                          <a:ea typeface="Inter" pitchFamily="34" charset="-122"/>
                          <a:cs typeface="Inter" pitchFamily="34" charset="-120"/>
                        </a:rPr>
                        <a:t>46.9%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16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Al Jurf, Ajman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37.5%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16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Sharjah Industrial Areas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51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35.3%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13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Dubai Silicon Oasis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26.3%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Umm Al Quwain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16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25.0%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16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Al Quoz</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45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22.2%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45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Business Bay / Jumeirah / Barsha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83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21.7%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42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Ajman Industrial Area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56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21.4%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28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297180">
                <a:tc>
                  <a:txBody>
                    <a:bodyPr/>
                    <a:lstStyle/>
                    <a:p>
                      <a:pPr indent="0" marL="0">
                        <a:buNone/>
                      </a:pPr>
                      <a:r>
                        <a:rPr lang="en-US" sz="1100" dirty="0">
                          <a:solidFill>
                            <a:srgbClr val="242126"/>
                          </a:solidFill>
                          <a:latin typeface="Inter" pitchFamily="34" charset="0"/>
                          <a:ea typeface="Inter" pitchFamily="34" charset="-122"/>
                          <a:cs typeface="Inter" pitchFamily="34" charset="-120"/>
                        </a:rPr>
                        <a:t>Jebel Ali / JAFZA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242126"/>
                          </a:solidFill>
                          <a:latin typeface="Inter" pitchFamily="34" charset="0"/>
                          <a:ea typeface="Inter" pitchFamily="34" charset="-122"/>
                          <a:cs typeface="Inter" pitchFamily="34" charset="-120"/>
                        </a:rPr>
                        <a:t>62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b="1" dirty="0">
                          <a:solidFill>
                            <a:srgbClr val="B33A3A"/>
                          </a:solidFill>
                          <a:latin typeface="Inter" pitchFamily="34" charset="0"/>
                          <a:ea typeface="Inter" pitchFamily="34" charset="-122"/>
                          <a:cs typeface="Inter" pitchFamily="34" charset="-120"/>
                        </a:rPr>
                        <a:t>17.7%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Dubai Industrial City and DIP together: 58 companies at 48% green, and 16 self-generated leads.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WHERE TO SEND THE TEAM NEXT</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Four territories to work, one to stop visiting.</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Only the areas we actually covered are shown. Abu Dhabi and Ras Al Khaimah were not part of this programme.</a:t>
            </a:r>
            <a:endParaRPr lang="en-US" sz="1250" dirty="0"/>
          </a:p>
        </p:txBody>
      </p:sp>
      <p:pic>
        <p:nvPicPr>
          <p:cNvPr id="6" name="Image 0" descr="/mnt/user-data/outputs/charts/map_clean.png">    </p:cNvPr>
          <p:cNvPicPr>
            <a:picLocks noChangeAspect="1"/>
          </p:cNvPicPr>
          <p:nvPr/>
        </p:nvPicPr>
        <p:blipFill>
          <a:blip r:embed="rId1"/>
          <a:stretch>
            <a:fillRect/>
          </a:stretch>
        </p:blipFill>
        <p:spPr>
          <a:xfrm>
            <a:off x="411480" y="1874520"/>
            <a:ext cx="4846320" cy="4187952"/>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0" y="1874520"/>
          <a:ext cx="6199632" cy="914400"/>
        </p:xfrm>
        <a:graphic>
          <a:graphicData uri="http://schemas.openxmlformats.org/drawingml/2006/table">
            <a:tbl>
              <a:tblPr/>
              <a:tblGrid>
                <a:gridCol w="658368"/>
                <a:gridCol w="2331720"/>
                <a:gridCol w="3209544"/>
              </a:tblGrid>
              <a:tr h="713232">
                <a:tc>
                  <a:txBody>
                    <a:bodyPr/>
                    <a:lstStyle/>
                    <a:p>
                      <a:pPr algn="ctr" indent="0" marL="0">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Territory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713232">
                <a:tc>
                  <a:txBody>
                    <a:bodyPr/>
                    <a:lstStyle/>
                    <a:p>
                      <a:pPr algn="ctr" indent="0" marL="0">
                        <a:buNone/>
                      </a:pPr>
                      <a:r>
                        <a:rPr lang="en-US" sz="1400" b="1" dirty="0">
                          <a:solidFill>
                            <a:srgbClr val="2E7D4F"/>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Sharjah Industrial Areas + Al Sajaa</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64 companies at 35.3% and 84.6% green. Street by street sweep.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13232">
                <a:tc>
                  <a:txBody>
                    <a:bodyPr/>
                    <a:lstStyle/>
                    <a:p>
                      <a:pPr algn="ctr" indent="0" marL="0">
                        <a:buNone/>
                      </a:pPr>
                      <a:r>
                        <a:rPr lang="en-US" sz="1400" b="1" dirty="0">
                          <a:solidFill>
                            <a:srgbClr val="2E7D4F"/>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Dubai Investment Park + Dubai Industrial City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58 companies at 48% green, and 16 self-generated leads.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13232">
                <a:tc>
                  <a:txBody>
                    <a:bodyPr/>
                    <a:lstStyle/>
                    <a:p>
                      <a:pPr algn="ctr" indent="0" marL="0">
                        <a:buNone/>
                      </a:pPr>
                      <a:r>
                        <a:rPr lang="en-US" sz="1400" b="1" dirty="0">
                          <a:solidFill>
                            <a:srgbClr val="B33A3A"/>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Jebel Ali / JAFZA</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62 companies, 40 blocked at the gate. Needs passes, not visits.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13232">
                <a:tc>
                  <a:txBody>
                    <a:bodyPr/>
                    <a:lstStyle/>
                    <a:p>
                      <a:pPr algn="ctr" indent="0" marL="0">
                        <a:buNone/>
                      </a:pPr>
                      <a:r>
                        <a:rPr lang="en-US" sz="1400" b="1" dirty="0">
                          <a:solidFill>
                            <a:srgbClr val="41616F"/>
                          </a:solidFill>
                          <a:latin typeface="Inter" pitchFamily="34" charset="0"/>
                          <a:ea typeface="Inter" pitchFamily="34" charset="-122"/>
                          <a:cs typeface="Inter" pitchFamily="34" charset="-120"/>
                        </a:rPr>
                        <a:t>4</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Al Jurf + Ajman Industrial</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72 companies. Worth a second sweep with verified addresses.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13232">
                <a:tc>
                  <a:txBody>
                    <a:bodyPr/>
                    <a:lstStyle/>
                    <a:p>
                      <a:pPr algn="ctr" indent="0" marL="0">
                        <a:buNone/>
                      </a:pPr>
                      <a:r>
                        <a:rPr lang="en-US" sz="1100" b="1" dirty="0">
                          <a:solidFill>
                            <a:srgbClr val="3D4650"/>
                          </a:solidFill>
                          <a:latin typeface="Inter" pitchFamily="34" charset="0"/>
                          <a:ea typeface="Inter" pitchFamily="34" charset="-122"/>
                          <a:cs typeface="Inter" pitchFamily="34" charset="-120"/>
                        </a:rPr>
                        <a:t>Stop</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Business Bay, Jumeirah, Silicon Oasis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102 companies returned 23 green and 2 Hot. Registered offices, not sites.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COMPETITOR LANDSCAPE</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No supplier owns this market, and CAFU has created a vacuum.</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Of the 102 companies that named a supplier, the largest single group buys from independent traders.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3108960"/>
                <a:gridCol w="1463040"/>
                <a:gridCol w="777240"/>
                <a:gridCol w="868680"/>
                <a:gridCol w="868680"/>
                <a:gridCol w="4096512"/>
              </a:tblGrid>
              <a:tr h="420624">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Current supplier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their customers say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20624">
                <a:tc>
                  <a:txBody>
                    <a:bodyPr/>
                    <a:lstStyle/>
                    <a:p>
                      <a:pPr indent="0" marL="0">
                        <a:buNone/>
                      </a:pPr>
                      <a:r>
                        <a:rPr lang="en-US" sz="1050" b="1" dirty="0">
                          <a:solidFill>
                            <a:srgbClr val="242126"/>
                          </a:solidFill>
                          <a:latin typeface="Inter" pitchFamily="34" charset="0"/>
                          <a:ea typeface="Inter" pitchFamily="34" charset="-122"/>
                          <a:cs typeface="Inter" pitchFamily="34" charset="-120"/>
                        </a:rPr>
                        <a:t>Independent third-party traders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42126"/>
                          </a:solidFill>
                          <a:latin typeface="Inter" pitchFamily="34" charset="0"/>
                          <a:ea typeface="Inter" pitchFamily="34" charset="-122"/>
                          <a:cs typeface="Inter" pitchFamily="34" charset="-120"/>
                        </a:rPr>
                        <a:t>35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Quality and trust complaints cluster here.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20624">
                <a:tc>
                  <a:txBody>
                    <a:bodyPr/>
                    <a:lstStyle/>
                    <a:p>
                      <a:pPr indent="0" marL="0">
                        <a:buNone/>
                      </a:pPr>
                      <a:r>
                        <a:rPr lang="en-US" sz="1050" b="1" dirty="0">
                          <a:solidFill>
                            <a:srgbClr val="242126"/>
                          </a:solidFill>
                          <a:latin typeface="Inter" pitchFamily="34" charset="0"/>
                          <a:ea typeface="Inter" pitchFamily="34" charset="-122"/>
                          <a:cs typeface="Inter" pitchFamily="34" charset="-120"/>
                        </a:rPr>
                        <a:t>ADNOC</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42126"/>
                          </a:solidFill>
                          <a:latin typeface="Inter" pitchFamily="34" charset="0"/>
                          <a:ea typeface="Inter" pitchFamily="34" charset="-122"/>
                          <a:cs typeface="Inter" pitchFamily="34" charset="-120"/>
                        </a:rPr>
                        <a:t>29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Price, contract difficulty, minimum quantities.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20624">
                <a:tc>
                  <a:txBody>
                    <a:bodyPr/>
                    <a:lstStyle/>
                    <a:p>
                      <a:pPr indent="0" marL="0">
                        <a:buNone/>
                      </a:pPr>
                      <a:r>
                        <a:rPr lang="en-US" sz="1050" b="1" dirty="0">
                          <a:solidFill>
                            <a:srgbClr val="242126"/>
                          </a:solidFill>
                          <a:latin typeface="Inter" pitchFamily="34" charset="0"/>
                          <a:ea typeface="Inter" pitchFamily="34" charset="-122"/>
                          <a:cs typeface="Inter" pitchFamily="34" charset="-120"/>
                        </a:rPr>
                        <a:t>Self-fuelling at retail stations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42126"/>
                          </a:solidFill>
                          <a:latin typeface="Inter" pitchFamily="34" charset="0"/>
                          <a:ea typeface="Inter" pitchFamily="34" charset="-122"/>
                          <a:cs typeface="Inter" pitchFamily="34" charset="-120"/>
                        </a:rPr>
                        <a:t>28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Not a supplier relationship at all. The competitor is the pump.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20624">
                <a:tc>
                  <a:txBody>
                    <a:bodyPr/>
                    <a:lstStyle/>
                    <a:p>
                      <a:pPr indent="0" marL="0">
                        <a:buNone/>
                      </a:pPr>
                      <a:r>
                        <a:rPr lang="en-US" sz="1050" b="1" dirty="0">
                          <a:solidFill>
                            <a:srgbClr val="242126"/>
                          </a:solidFill>
                          <a:latin typeface="Inter" pitchFamily="34" charset="0"/>
                          <a:ea typeface="Inter" pitchFamily="34" charset="-122"/>
                          <a:cs typeface="Inter" pitchFamily="34" charset="-120"/>
                        </a:rPr>
                        <a:t>ENOC / EPPCO</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42126"/>
                          </a:solidFill>
                          <a:latin typeface="Inter" pitchFamily="34" charset="0"/>
                          <a:ea typeface="Inter" pitchFamily="34" charset="-122"/>
                          <a:cs typeface="Inter" pitchFamily="34" charset="-120"/>
                        </a:rPr>
                        <a:t>27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12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Price.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20624">
                <a:tc>
                  <a:txBody>
                    <a:bodyPr/>
                    <a:lstStyle/>
                    <a:p>
                      <a:pPr indent="0" marL="0">
                        <a:buNone/>
                      </a:pPr>
                      <a:r>
                        <a:rPr lang="en-US" sz="1050" b="1" dirty="0">
                          <a:solidFill>
                            <a:srgbClr val="242126"/>
                          </a:solidFill>
                          <a:latin typeface="Inter" pitchFamily="34" charset="0"/>
                          <a:ea typeface="Inter" pitchFamily="34" charset="-122"/>
                          <a:cs typeface="Inter" pitchFamily="34" charset="-120"/>
                        </a:rPr>
                        <a:t>CAFU</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050" b="1" dirty="0">
                          <a:solidFill>
                            <a:srgbClr val="C91E2C"/>
                          </a:solidFill>
                          <a:latin typeface="Inter" pitchFamily="34" charset="0"/>
                          <a:ea typeface="Inter" pitchFamily="34" charset="-122"/>
                          <a:cs typeface="Inter" pitchFamily="34" charset="-120"/>
                        </a:rPr>
                        <a:t>20 mentioned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Withdrawal and service failure. 16 of 20 mentions are negative.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r>
              <a:tr h="420624">
                <a:tc>
                  <a:txBody>
                    <a:bodyPr/>
                    <a:lstStyle/>
                    <a:p>
                      <a:pPr indent="0" marL="0">
                        <a:buNone/>
                      </a:pPr>
                      <a:r>
                        <a:rPr lang="en-US" sz="1050" b="1" dirty="0">
                          <a:solidFill>
                            <a:srgbClr val="242126"/>
                          </a:solidFill>
                          <a:latin typeface="Inter" pitchFamily="34" charset="0"/>
                          <a:ea typeface="Inter" pitchFamily="34" charset="-122"/>
                          <a:cs typeface="Inter" pitchFamily="34" charset="-120"/>
                        </a:rPr>
                        <a:t>Emarat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b="1"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50" dirty="0">
                          <a:solidFill>
                            <a:srgbClr val="242126"/>
                          </a:solidFill>
                          <a:latin typeface="Inter" pitchFamily="34" charset="0"/>
                          <a:ea typeface="Inter" pitchFamily="34" charset="-122"/>
                          <a:cs typeface="Inter" pitchFamily="34" charset="-120"/>
                        </a:rPr>
                        <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Marginal presence in this dataset.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Text 4"/>
          <p:cNvSpPr txBox="1"/>
          <p:nvPr/>
        </p:nvSpPr>
        <p:spPr>
          <a:xfrm>
            <a:off x="502920" y="5285232"/>
            <a:ext cx="11185855" cy="749808"/>
          </a:xfrm>
          <a:prstGeom prst="rect">
            <a:avLst/>
          </a:prstGeom>
          <a:noFill/>
          <a:ln/>
        </p:spPr>
        <p:txBody>
          <a:bodyPr wrap="square" lIns="0" tIns="0" rIns="0" bIns="0" rtlCol="0" anchor="ctr"/>
          <a:lstStyle/>
          <a:p>
            <a:pPr indent="0" marL="0">
              <a:lnSpc>
                <a:spcPts val="1600"/>
              </a:lnSpc>
              <a:buNone/>
            </a:pPr>
            <a:r>
              <a:rPr lang="en-US" sz="1100" dirty="0">
                <a:solidFill>
                  <a:srgbClr val="3D4650"/>
                </a:solidFill>
                <a:latin typeface="Inter" pitchFamily="34" charset="0"/>
                <a:ea typeface="Inter" pitchFamily="34" charset="-122"/>
                <a:cs typeface="Inter" pitchFamily="34" charset="-120"/>
              </a:rPr>
              <a:t>Pricing context: UAE diesel is price-regulated at AED 4.30 per litre (September 2026), so every station charges the same. CAFU reinstated delivery fees of AED 12 to 20 per order in April 2025. FILLIT's differentiators are therefore delivery, 10ppm quality, no minimum order and pricing issued before dispatch, not the litre price.</a:t>
            </a:r>
            <a:endParaRPr lang="en-US" sz="1100" dirty="0"/>
          </a:p>
        </p:txBody>
      </p:sp>
      <p:sp>
        <p:nvSpPr>
          <p:cNvPr id="8" name="Shape 5"/>
          <p:cNvSpPr/>
          <p:nvPr/>
        </p:nvSpPr>
        <p:spPr>
          <a:xfrm>
            <a:off x="502920" y="6144768"/>
            <a:ext cx="11185855" cy="475488"/>
          </a:xfrm>
          <a:prstGeom prst="rect">
            <a:avLst/>
          </a:prstGeom>
          <a:solidFill>
            <a:srgbClr val="FCF3F4"/>
          </a:solidFill>
          <a:ln/>
        </p:spPr>
      </p:sp>
      <p:sp>
        <p:nvSpPr>
          <p:cNvPr id="9" name="Shape 6"/>
          <p:cNvSpPr/>
          <p:nvPr/>
        </p:nvSpPr>
        <p:spPr>
          <a:xfrm>
            <a:off x="502920" y="6144768"/>
            <a:ext cx="50292" cy="475488"/>
          </a:xfrm>
          <a:prstGeom prst="rect">
            <a:avLst/>
          </a:prstGeom>
          <a:solidFill>
            <a:srgbClr val="C91E2C"/>
          </a:solidFill>
          <a:ln/>
        </p:spPr>
      </p:sp>
      <p:sp>
        <p:nvSpPr>
          <p:cNvPr id="10" name="Text 7"/>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28 companies have no delivered-fuel supplier at all. They drive to a station. The competitor is the pump.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THE FINDING THAT CHANGES THE PRIORITY LIST</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Our own scoring was pointing at the wrong companies.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Across the 75 Hot, Warm and Cold companies whose consumption converts to litres per month, excluding one outlier account.</a:t>
            </a:r>
            <a:endParaRPr lang="en-US" sz="1250" dirty="0"/>
          </a:p>
        </p:txBody>
      </p:sp>
      <p:sp>
        <p:nvSpPr>
          <p:cNvPr id="6" name="Text 4"/>
          <p:cNvSpPr txBox="1"/>
          <p:nvPr/>
        </p:nvSpPr>
        <p:spPr>
          <a:xfrm>
            <a:off x="502920" y="2057400"/>
            <a:ext cx="2926080" cy="1371600"/>
          </a:xfrm>
          <a:prstGeom prst="rect">
            <a:avLst/>
          </a:prstGeom>
          <a:noFill/>
          <a:ln/>
        </p:spPr>
        <p:txBody>
          <a:bodyPr wrap="square" lIns="0" tIns="0" rIns="0" bIns="0" rtlCol="0" anchor="ctr"/>
          <a:lstStyle/>
          <a:p>
            <a:pPr indent="0" marL="0">
              <a:buNone/>
            </a:pPr>
            <a:r>
              <a:rPr lang="en-US" sz="8600" b="1" dirty="0">
                <a:solidFill>
                  <a:srgbClr val="C91E2C"/>
                </a:solidFill>
                <a:latin typeface="Archivo" pitchFamily="34" charset="0"/>
                <a:ea typeface="Archivo" pitchFamily="34" charset="-122"/>
                <a:cs typeface="Archivo" pitchFamily="34" charset="-120"/>
              </a:rPr>
              <a:t>60%</a:t>
            </a:r>
            <a:endParaRPr lang="en-US" sz="8600" dirty="0"/>
          </a:p>
        </p:txBody>
      </p:sp>
      <p:sp>
        <p:nvSpPr>
          <p:cNvPr id="7" name="Text 5"/>
          <p:cNvSpPr txBox="1"/>
          <p:nvPr/>
        </p:nvSpPr>
        <p:spPr>
          <a:xfrm>
            <a:off x="502920" y="3474720"/>
            <a:ext cx="3840480" cy="868680"/>
          </a:xfrm>
          <a:prstGeom prst="rect">
            <a:avLst/>
          </a:prstGeom>
          <a:noFill/>
          <a:ln/>
        </p:spPr>
        <p:txBody>
          <a:bodyPr wrap="square" lIns="0" tIns="0" rIns="0" bIns="0" rtlCol="0" anchor="ctr"/>
          <a:lstStyle/>
          <a:p>
            <a:pPr indent="0" marL="0">
              <a:lnSpc>
                <a:spcPts val="2400"/>
              </a:lnSpc>
              <a:buNone/>
            </a:pPr>
            <a:r>
              <a:rPr lang="en-US" sz="1700" b="1" dirty="0">
                <a:solidFill>
                  <a:srgbClr val="242126"/>
                </a:solidFill>
                <a:latin typeface="Archivo" pitchFamily="34" charset="0"/>
                <a:ea typeface="Archivo" pitchFamily="34" charset="-122"/>
                <a:cs typeface="Archivo" pitchFamily="34" charset="-120"/>
              </a:rPr>
              <a:t>of measured diesel volume sits in companies we scored Cold.</a:t>
            </a:r>
            <a:endParaRPr lang="en-US" sz="1700" dirty="0"/>
          </a:p>
        </p:txBody>
      </p:sp>
      <p:sp>
        <p:nvSpPr>
          <p:cNvPr id="8" name="Text 6"/>
          <p:cNvSpPr txBox="1"/>
          <p:nvPr/>
        </p:nvSpPr>
        <p:spPr>
          <a:xfrm>
            <a:off x="502920" y="4434840"/>
            <a:ext cx="3840480" cy="868680"/>
          </a:xfrm>
          <a:prstGeom prst="rect">
            <a:avLst/>
          </a:prstGeom>
          <a:noFill/>
          <a:ln/>
        </p:spPr>
        <p:txBody>
          <a:bodyPr wrap="square" lIns="0" tIns="0" rIns="0" bIns="0" rtlCol="0" anchor="ctr"/>
          <a:lstStyle/>
          <a:p>
            <a:pPr indent="0" marL="0">
              <a:lnSpc>
                <a:spcPts val="1700"/>
              </a:lnSpc>
              <a:buNone/>
            </a:pPr>
            <a:r>
              <a:rPr lang="en-US" sz="1150" dirty="0">
                <a:solidFill>
                  <a:srgbClr val="3D4650"/>
                </a:solidFill>
                <a:latin typeface="Inter" pitchFamily="34" charset="0"/>
                <a:ea typeface="Inter" pitchFamily="34" charset="-122"/>
                <a:cs typeface="Inter" pitchFamily="34" charset="-120"/>
              </a:rPr>
              <a:t>RP Group (Hot, about 4.5 million litres a month) is excluded because it alone would outweigh everything else combined.</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2057400"/>
          <a:ext cx="6931152" cy="914400"/>
        </p:xfrm>
        <a:graphic>
          <a:graphicData uri="http://schemas.openxmlformats.org/drawingml/2006/table">
            <a:tbl>
              <a:tblPr/>
              <a:tblGrid>
                <a:gridCol w="2724912"/>
                <a:gridCol w="1371600"/>
                <a:gridCol w="1371600"/>
                <a:gridCol w="1463040"/>
              </a:tblGrid>
              <a:tr h="65836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Measure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Companies with measured volume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30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28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Total litres per month</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193,531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317,881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C91E2C"/>
                          </a:solidFill>
                          <a:latin typeface="Inter" pitchFamily="34" charset="0"/>
                          <a:ea typeface="Inter" pitchFamily="34" charset="-122"/>
                          <a:cs typeface="Inter" pitchFamily="34" charset="-120"/>
                        </a:rPr>
                        <a:t>770,688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Share of measured volume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15.1%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24.8%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C91E2C"/>
                          </a:solidFill>
                          <a:latin typeface="Inter" pitchFamily="34" charset="0"/>
                          <a:ea typeface="Inter" pitchFamily="34" charset="-122"/>
                          <a:cs typeface="Inter" pitchFamily="34" charset="-120"/>
                        </a:rPr>
                        <a:t>60.1%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Average per company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11,384 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10,596 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C91E2C"/>
                          </a:solidFill>
                          <a:latin typeface="Inter" pitchFamily="34" charset="0"/>
                          <a:ea typeface="Inter" pitchFamily="34" charset="-122"/>
                          <a:cs typeface="Inter" pitchFamily="34" charset="-120"/>
                        </a:rPr>
                        <a:t>27,525 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10" name="Shape 7"/>
          <p:cNvSpPr/>
          <p:nvPr/>
        </p:nvSpPr>
        <p:spPr>
          <a:xfrm>
            <a:off x="502920" y="6144768"/>
            <a:ext cx="11185855" cy="475488"/>
          </a:xfrm>
          <a:prstGeom prst="rect">
            <a:avLst/>
          </a:prstGeom>
          <a:solidFill>
            <a:srgbClr val="FCF3F4"/>
          </a:solidFill>
          <a:ln/>
        </p:spPr>
      </p:sp>
      <p:sp>
        <p:nvSpPr>
          <p:cNvPr id="11" name="Shape 8"/>
          <p:cNvSpPr/>
          <p:nvPr/>
        </p:nvSpPr>
        <p:spPr>
          <a:xfrm>
            <a:off x="502920" y="6144768"/>
            <a:ext cx="50292" cy="475488"/>
          </a:xfrm>
          <a:prstGeom prst="rect">
            <a:avLst/>
          </a:prstGeom>
          <a:solidFill>
            <a:srgbClr val="2E7D4F"/>
          </a:solidFill>
          <a:ln/>
        </p:spPr>
      </p:sp>
      <p:sp>
        <p:nvSpPr>
          <p:cNvPr id="12" name="Text 9"/>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Escalate the top 10 Cold accounts by volume to a named account manager. The average Cold company uses 2.4x a Hot 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BUSINESS OPPORTUNITY MAP</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Six customer problems, and the opening each one creates.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Each row is a named group of companies in the handover files, not a market segment estimate.</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4206240"/>
                <a:gridCol w="1371600"/>
                <a:gridCol w="5605272"/>
              </a:tblGrid>
              <a:tr h="56692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Customer problem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The commercial opening it creates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566928">
                <a:tc>
                  <a:txBody>
                    <a:bodyPr/>
                    <a:lstStyle/>
                    <a:p>
                      <a:pPr indent="0" marL="0">
                        <a:buNone/>
                      </a:pPr>
                      <a:r>
                        <a:rPr lang="en-US" sz="1150" b="1" dirty="0">
                          <a:solidFill>
                            <a:srgbClr val="242126"/>
                          </a:solidFill>
                          <a:latin typeface="Inter" pitchFamily="34" charset="0"/>
                          <a:ea typeface="Inter" pitchFamily="34" charset="-122"/>
                          <a:cs typeface="Inter" pitchFamily="34" charset="-120"/>
                        </a:rPr>
                        <a:t>CAFU stopped delivering or will not fill on site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Direct replacement of a withdrawn supplier. No price fight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66928">
                <a:tc>
                  <a:txBody>
                    <a:bodyPr/>
                    <a:lstStyle/>
                    <a:p>
                      <a:pPr indent="0" marL="0">
                        <a:buNone/>
                      </a:pPr>
                      <a:r>
                        <a:rPr lang="en-US" sz="1150" b="1" dirty="0">
                          <a:solidFill>
                            <a:srgbClr val="242126"/>
                          </a:solidFill>
                          <a:latin typeface="Inter" pitchFamily="34" charset="0"/>
                          <a:ea typeface="Inter" pitchFamily="34" charset="-122"/>
                          <a:cs typeface="Inter" pitchFamily="34" charset="-120"/>
                        </a:rPr>
                        <a:t>Vehicles and machinery driven to a fuel station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Sell downtime recovery, not a cheaper litre. Price is regulated, time is not.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66928">
                <a:tc>
                  <a:txBody>
                    <a:bodyPr/>
                    <a:lstStyle/>
                    <a:p>
                      <a:pPr indent="0" marL="0">
                        <a:buNone/>
                      </a:pPr>
                      <a:r>
                        <a:rPr lang="en-US" sz="1150" b="1" dirty="0">
                          <a:solidFill>
                            <a:srgbClr val="242126"/>
                          </a:solidFill>
                          <a:latin typeface="Inter" pitchFamily="34" charset="0"/>
                          <a:ea typeface="Inter" pitchFamily="34" charset="-122"/>
                          <a:cs typeface="Inter" pitchFamily="34" charset="-120"/>
                        </a:rPr>
                        <a:t>Bad fuel from independent traders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Verifiable 10ppm with batch certification. Nine of ten quality specs asked for 10ppm.</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66928">
                <a:tc>
                  <a:txBody>
                    <a:bodyPr/>
                    <a:lstStyle/>
                    <a:p>
                      <a:pPr indent="0" marL="0">
                        <a:buNone/>
                      </a:pPr>
                      <a:r>
                        <a:rPr lang="en-US" sz="1150" b="1" dirty="0">
                          <a:solidFill>
                            <a:srgbClr val="242126"/>
                          </a:solidFill>
                          <a:latin typeface="Inter" pitchFamily="34" charset="0"/>
                          <a:ea typeface="Inter" pitchFamily="34" charset="-122"/>
                          <a:cs typeface="Inter" pitchFamily="34" charset="-120"/>
                        </a:rPr>
                        <a:t>ADNOC minimum quantities and chip friction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No-minimum delivery and post-paid terms. The exclusion is itself a market.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66928">
                <a:tc>
                  <a:txBody>
                    <a:bodyPr/>
                    <a:lstStyle/>
                    <a:p>
                      <a:pPr indent="0" marL="0">
                        <a:buNone/>
                      </a:pPr>
                      <a:r>
                        <a:rPr lang="en-US" sz="1150" b="1" dirty="0">
                          <a:solidFill>
                            <a:srgbClr val="242126"/>
                          </a:solidFill>
                          <a:latin typeface="Inter" pitchFamily="34" charset="0"/>
                          <a:ea typeface="Inter" pitchFamily="34" charset="-122"/>
                          <a:cs typeface="Inter" pitchFamily="34" charset="-120"/>
                        </a:rPr>
                        <a:t>Credit and working capital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9</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Structured terms. Four of the nine credit requests are already Hot.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66928">
                <a:tc>
                  <a:txBody>
                    <a:bodyPr/>
                    <a:lstStyle/>
                    <a:p>
                      <a:pPr indent="0" marL="0">
                        <a:buNone/>
                      </a:pPr>
                      <a:r>
                        <a:rPr lang="en-US" sz="1150" b="1" dirty="0">
                          <a:solidFill>
                            <a:srgbClr val="242126"/>
                          </a:solidFill>
                          <a:latin typeface="Inter" pitchFamily="34" charset="0"/>
                          <a:ea typeface="Inter" pitchFamily="34" charset="-122"/>
                          <a:cs typeface="Inter" pitchFamily="34" charset="-120"/>
                        </a:rPr>
                        <a:t>Forklift, generator and machinery refuelling</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C91E2C"/>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The largest group of all. None of this equipment can be driven to a pump.</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Not one of these six openings is a price argument.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PRIORITISED HIGH-POTENTIAL LEADS</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62 qualified companies, named and profiled.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Seven of each shown. Every one has a named contact, a known current supplier and a recorded fleet.</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5532120" cy="914400"/>
        </p:xfrm>
        <a:graphic>
          <a:graphicData uri="http://schemas.openxmlformats.org/drawingml/2006/table">
            <a:tbl>
              <a:tblPr/>
              <a:tblGrid>
                <a:gridCol w="2514600"/>
                <a:gridCol w="1417320"/>
                <a:gridCol w="1600200"/>
              </a:tblGrid>
              <a:tr h="36576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23 Hot leads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Buys from today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RP Group, Gulf Asian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Multiple 3rd party traders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Merint Interior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Dubai Industrial City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ENOC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Sun Metal Casting Factory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Sharjah Industrial</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Third party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Al Fanous Al Fadhi Glass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Al Sajaa</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Drives to fuel station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MGM General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Dubai</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Maxwell Fuel Trading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Bilal Industries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Local vendor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Menders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Dubai</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E7D4F"/>
                          </a:solidFill>
                          <a:latin typeface="Inter" pitchFamily="34" charset="0"/>
                          <a:ea typeface="Inter" pitchFamily="34" charset="-122"/>
                          <a:cs typeface="Inter" pitchFamily="34" charset="-120"/>
                        </a:rPr>
                        <a:t>Third party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153912" y="1956816"/>
          <a:ext cx="5532120" cy="914400"/>
        </p:xfrm>
        <a:graphic>
          <a:graphicData uri="http://schemas.openxmlformats.org/drawingml/2006/table">
            <a:tbl>
              <a:tblPr/>
              <a:tblGrid>
                <a:gridCol w="2514600"/>
                <a:gridCol w="1417320"/>
                <a:gridCol w="1600200"/>
              </a:tblGrid>
              <a:tr h="36576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39 Warm leads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Buys from today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Bin Yaber Driving Institute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Dubai</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ENOC</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Emcon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Al Quoz</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Station and 3rd party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Al Shamsi Boat Factory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Ajwa Diesel Trading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Dayal Metal Containers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ADNOC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Coca-Cola Al Ahila Beverage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Umm Al Quwain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ADNOC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Al Jalal Trading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Al Sajaa</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ADNOC (prepaid)</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65760">
                <a:tc>
                  <a:txBody>
                    <a:bodyPr/>
                    <a:lstStyle/>
                    <a:p>
                      <a:pPr indent="0" marL="0">
                        <a:buNone/>
                      </a:pPr>
                      <a:r>
                        <a:rPr lang="en-US" sz="1000" b="1" dirty="0">
                          <a:solidFill>
                            <a:srgbClr val="242126"/>
                          </a:solidFill>
                          <a:latin typeface="Inter" pitchFamily="34" charset="0"/>
                          <a:ea typeface="Inter" pitchFamily="34" charset="-122"/>
                          <a:cs typeface="Inter" pitchFamily="34" charset="-120"/>
                        </a:rPr>
                        <a:t>Al Basma Detergents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Sharjah</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5E7F44"/>
                          </a:solidFill>
                          <a:latin typeface="Inter" pitchFamily="34" charset="0"/>
                          <a:ea typeface="Inter" pitchFamily="34" charset="-122"/>
                          <a:cs typeface="Inter" pitchFamily="34" charset="-120"/>
                        </a:rPr>
                        <a:t>Drives to fuel station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8" name="Text 4"/>
          <p:cNvSpPr txBox="1"/>
          <p:nvPr/>
        </p:nvSpPr>
        <p:spPr>
          <a:xfrm>
            <a:off x="502920" y="5577840"/>
            <a:ext cx="11185855" cy="411480"/>
          </a:xfrm>
          <a:prstGeom prst="rect">
            <a:avLst/>
          </a:prstGeom>
          <a:noFill/>
          <a:ln/>
        </p:spPr>
        <p:txBody>
          <a:bodyPr wrap="square" lIns="0" tIns="0" rIns="0" bIns="0" rtlCol="0" anchor="ctr"/>
          <a:lstStyle/>
          <a:p>
            <a:pPr indent="0" marL="0">
              <a:buNone/>
            </a:pPr>
            <a:r>
              <a:rPr lang="en-US" sz="1150" b="1" dirty="0">
                <a:solidFill>
                  <a:srgbClr val="C91E2C"/>
                </a:solidFill>
                <a:latin typeface="Inter" pitchFamily="34" charset="0"/>
                <a:ea typeface="Inter" pitchFamily="34" charset="-122"/>
                <a:cs typeface="Inter" pitchFamily="34" charset="-120"/>
              </a:rPr>
              <a:t>Full lists for Hot, Warm, Cold, self-generated leads and CAFU-affected accounts are handed over as separate Excel files with this deck.</a:t>
            </a:r>
            <a:endParaRPr lang="en-US" sz="1150" dirty="0"/>
          </a:p>
        </p:txBody>
      </p:sp>
      <p:sp>
        <p:nvSpPr>
          <p:cNvPr id="9" name="Shape 5"/>
          <p:cNvSpPr/>
          <p:nvPr/>
        </p:nvSpPr>
        <p:spPr>
          <a:xfrm>
            <a:off x="502920" y="6144768"/>
            <a:ext cx="11185855" cy="475488"/>
          </a:xfrm>
          <a:prstGeom prst="rect">
            <a:avLst/>
          </a:prstGeom>
          <a:solidFill>
            <a:srgbClr val="FCF3F4"/>
          </a:solidFill>
          <a:ln/>
        </p:spPr>
      </p:sp>
      <p:sp>
        <p:nvSpPr>
          <p:cNvPr id="10" name="Shape 6"/>
          <p:cNvSpPr/>
          <p:nvPr/>
        </p:nvSpPr>
        <p:spPr>
          <a:xfrm>
            <a:off x="502920" y="6144768"/>
            <a:ext cx="50292" cy="475488"/>
          </a:xfrm>
          <a:prstGeom prst="rect">
            <a:avLst/>
          </a:prstGeom>
          <a:solidFill>
            <a:srgbClr val="2E7D4F"/>
          </a:solidFill>
          <a:ln/>
        </p:spPr>
      </p:sp>
      <p:sp>
        <p:nvSpPr>
          <p:cNvPr id="11" name="Text 7"/>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Seven of these fourteen drive to a pump or buy from an unverified trader. Each is a direct switching opportunity.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KPI: NEW LEADS GENERATED</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The leads we found ourselves beat the list on every measure.</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72 companies identified by walking in, logged in the New Leads section, against the 496 companies from the planned list.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3291840"/>
                <a:gridCol w="1463040"/>
                <a:gridCol w="1188720"/>
                <a:gridCol w="1737360"/>
                <a:gridCol w="1371600"/>
                <a:gridCol w="2130552"/>
              </a:tblGrid>
              <a:tr h="65836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Lead source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Green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Dead ends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Dead-end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Self-generated in the field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72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51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400" b="1" dirty="0">
                          <a:solidFill>
                            <a:srgbClr val="2E7D4F"/>
                          </a:solidFill>
                          <a:latin typeface="Inter" pitchFamily="34" charset="0"/>
                          <a:ea typeface="Inter" pitchFamily="34" charset="-122"/>
                          <a:cs typeface="Inter" pitchFamily="34" charset="-120"/>
                        </a:rPr>
                        <a:t>70.8%</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algn="ctr" indent="0" marL="0">
                        <a:buNone/>
                      </a:pPr>
                      <a:r>
                        <a:rPr lang="en-US" sz="1400" b="1" dirty="0">
                          <a:solidFill>
                            <a:srgbClr val="2E7D4F"/>
                          </a:solidFill>
                          <a:latin typeface="Inter" pitchFamily="34" charset="0"/>
                          <a:ea typeface="Inter" pitchFamily="34" charset="-122"/>
                          <a:cs typeface="Inter" pitchFamily="34" charset="-120"/>
                        </a:rPr>
                        <a:t>13.9%</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r>
              <a:tr h="658368">
                <a:tc>
                  <a:txBody>
                    <a:bodyPr/>
                    <a:lstStyle/>
                    <a:p>
                      <a:pPr indent="0" marL="0">
                        <a:buNone/>
                      </a:pPr>
                      <a:r>
                        <a:rPr lang="en-US" sz="1150" b="1" dirty="0">
                          <a:solidFill>
                            <a:srgbClr val="242126"/>
                          </a:solidFill>
                          <a:latin typeface="Inter" pitchFamily="34" charset="0"/>
                          <a:ea typeface="Inter" pitchFamily="34" charset="-122"/>
                          <a:cs typeface="Inter" pitchFamily="34" charset="-120"/>
                        </a:rPr>
                        <a:t>The planned prospect list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b="1" dirty="0">
                          <a:solidFill>
                            <a:srgbClr val="242126"/>
                          </a:solidFill>
                          <a:latin typeface="Inter" pitchFamily="34" charset="0"/>
                          <a:ea typeface="Inter" pitchFamily="34" charset="-122"/>
                          <a:cs typeface="Inter" pitchFamily="34" charset="-120"/>
                        </a:rPr>
                        <a:t>496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106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3D4650"/>
                          </a:solidFill>
                          <a:latin typeface="Inter" pitchFamily="34" charset="0"/>
                          <a:ea typeface="Inter" pitchFamily="34" charset="-122"/>
                          <a:cs typeface="Inter" pitchFamily="34" charset="-120"/>
                        </a:rPr>
                        <a:t>21.4%</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150" dirty="0">
                          <a:solidFill>
                            <a:srgbClr val="242126"/>
                          </a:solidFill>
                          <a:latin typeface="Inter" pitchFamily="34" charset="0"/>
                          <a:ea typeface="Inter" pitchFamily="34" charset="-122"/>
                          <a:cs typeface="Inter" pitchFamily="34" charset="-120"/>
                        </a:rPr>
                        <a:t>207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400" b="1" dirty="0">
                          <a:solidFill>
                            <a:srgbClr val="B33A3A"/>
                          </a:solidFill>
                          <a:latin typeface="Inter" pitchFamily="34" charset="0"/>
                          <a:ea typeface="Inter" pitchFamily="34" charset="-122"/>
                          <a:cs typeface="Inter" pitchFamily="34" charset="-120"/>
                        </a:rPr>
                        <a:t>41.7%</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502920" y="3977640"/>
          <a:ext cx="11185855" cy="914400"/>
        </p:xfrm>
        <a:graphic>
          <a:graphicData uri="http://schemas.openxmlformats.org/drawingml/2006/table">
            <a:tbl>
              <a:tblPr/>
              <a:tblGrid>
                <a:gridCol w="11183112"/>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that difference means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3.3x better green rate than the prospect list we were handed.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3x lower dead-end rate, because we chose the address ourselves rather than trusting a stale list.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242126"/>
                          </a:solidFill>
                          <a:latin typeface="Inter" pitchFamily="34" charset="0"/>
                          <a:ea typeface="Inter" pitchFamily="34" charset="-122"/>
                          <a:cs typeface="Inter" pitchFamily="34" charset="-120"/>
                        </a:rPr>
                        <a:t>19 of the 72 came from marine and boat building alone, a sector nobody had targeted.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150" b="1" dirty="0">
                          <a:solidFill>
                            <a:srgbClr val="C91E2C"/>
                          </a:solidFill>
                          <a:latin typeface="Inter" pitchFamily="34" charset="0"/>
                          <a:ea typeface="Inter" pitchFamily="34" charset="-122"/>
                          <a:cs typeface="Inter" pitchFamily="34" charset="-120"/>
                        </a:rPr>
                        <a:t>Week 1 generated zero new leads and a 59.5% dead-end rate. That is the whole argument.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8" name="Shape 4"/>
          <p:cNvSpPr/>
          <p:nvPr/>
        </p:nvSpPr>
        <p:spPr>
          <a:xfrm>
            <a:off x="502920" y="6144768"/>
            <a:ext cx="11185855" cy="475488"/>
          </a:xfrm>
          <a:prstGeom prst="rect">
            <a:avLst/>
          </a:prstGeom>
          <a:solidFill>
            <a:srgbClr val="FCF3F4"/>
          </a:solidFill>
          <a:ln/>
        </p:spPr>
      </p:sp>
      <p:sp>
        <p:nvSpPr>
          <p:cNvPr id="9" name="Shape 5"/>
          <p:cNvSpPr/>
          <p:nvPr/>
        </p:nvSpPr>
        <p:spPr>
          <a:xfrm>
            <a:off x="502920" y="6144768"/>
            <a:ext cx="50292" cy="475488"/>
          </a:xfrm>
          <a:prstGeom prst="rect">
            <a:avLst/>
          </a:prstGeom>
          <a:solidFill>
            <a:srgbClr val="2E7D4F"/>
          </a:solidFill>
          <a:ln/>
        </p:spPr>
      </p:sp>
      <p:sp>
        <p:nvSpPr>
          <p:cNvPr id="10"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Self-generated leads carry the largest accounts in the entire book, including RP Group.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MANDATORY SECTION</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3000" b="1" dirty="0">
                <a:solidFill>
                  <a:srgbClr val="242126"/>
                </a:solidFill>
                <a:latin typeface="Archivo" pitchFamily="34" charset="0"/>
                <a:ea typeface="Archivo" pitchFamily="34" charset="-122"/>
                <a:cs typeface="Archivo" pitchFamily="34" charset="-120"/>
              </a:rPr>
              <a:t>Top five findings.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5855" cy="914400"/>
        </p:xfrm>
        <a:graphic>
          <a:graphicData uri="http://schemas.openxmlformats.org/drawingml/2006/table">
            <a:tbl>
              <a:tblPr/>
              <a:tblGrid>
                <a:gridCol w="685800"/>
                <a:gridCol w="4023360"/>
                <a:gridCol w="6473952"/>
              </a:tblGrid>
              <a:tr h="804672">
                <a:tc>
                  <a:txBody>
                    <a:bodyPr/>
                    <a:lstStyle/>
                    <a:p>
                      <a:pPr algn="ctr" indent="0" marL="0">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Finding</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The evidence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01</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Our own lead scoring points at the wrong companies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Excluding one outlier, 60% of measured volume sits in Cold. The average Cold company uses 27,525 L a month, 2.4x a Hot one.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02</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CAFU has created a vacuum worth taking now</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20 companies mentioned CAFU unprompted, 16 negatively. All 20 are confirmed diesel users.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03</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Most closed records failed on addresses, not demand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117 of 217 invalid records say the company was not at the address. Only 51 say there is no diesel requirement.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04</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The leads we generated beat the list 3.3 to 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72 self-generated leads returned 70.8% green and 13.9% dead. The planned list returned 21.4% and 41.7%.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05</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b="1" dirty="0">
                          <a:solidFill>
                            <a:srgbClr val="242126"/>
                          </a:solidFill>
                          <a:latin typeface="Inter" pitchFamily="34" charset="0"/>
                          <a:ea typeface="Inter" pitchFamily="34" charset="-122"/>
                          <a:cs typeface="Inter" pitchFamily="34" charset="-120"/>
                        </a:rPr>
                        <a:t>90 companies are blocked, not disqualified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50" dirty="0">
                          <a:solidFill>
                            <a:srgbClr val="242126"/>
                          </a:solidFill>
                          <a:latin typeface="Inter" pitchFamily="34" charset="0"/>
                          <a:ea typeface="Inter" pitchFamily="34" charset="-122"/>
                          <a:cs typeface="Inter" pitchFamily="34" charset="-120"/>
                        </a:rPr>
                        <a:t>47 sit in free zones. Jebel Ali alone is 62 companies, 40 blocked at the gate, and zero Hot leads.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MANDATORY SECTION</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3000" b="1" dirty="0">
                <a:solidFill>
                  <a:srgbClr val="242126"/>
                </a:solidFill>
                <a:latin typeface="Archivo" pitchFamily="34" charset="0"/>
                <a:ea typeface="Archivo" pitchFamily="34" charset="-122"/>
                <a:cs typeface="Archivo" pitchFamily="34" charset="-120"/>
              </a:rPr>
              <a:t>Top five recommendations.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5855" cy="914400"/>
        </p:xfrm>
        <a:graphic>
          <a:graphicData uri="http://schemas.openxmlformats.org/drawingml/2006/table">
            <a:tbl>
              <a:tblPr/>
              <a:tblGrid>
                <a:gridCol w="685800"/>
                <a:gridCol w="3200400"/>
                <a:gridCol w="5074920"/>
                <a:gridCol w="2221992"/>
              </a:tblGrid>
              <a:tr h="804672">
                <a:tc>
                  <a:txBody>
                    <a:bodyPr/>
                    <a:lstStyle/>
                    <a:p>
                      <a:pPr algn="ctr" indent="0" marL="0">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Recommendation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Expected effect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01</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42126"/>
                          </a:solidFill>
                          <a:latin typeface="Inter" pitchFamily="34" charset="0"/>
                          <a:ea typeface="Inter" pitchFamily="34" charset="-122"/>
                          <a:cs typeface="Inter" pitchFamily="34" charset="-120"/>
                        </a:rPr>
                        <a:t>Send quotations to all 23 Hot leads this week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Every Hot lead asked for a quote, sample or visit, and each has a named contact on file.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Revenue within 30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02</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42126"/>
                          </a:solidFill>
                          <a:latin typeface="Inter" pitchFamily="34" charset="0"/>
                          <a:ea typeface="Inter" pitchFamily="34" charset="-122"/>
                          <a:cs typeface="Inter" pitchFamily="34" charset="-120"/>
                        </a:rPr>
                        <a:t>Run a named CAFU-replacement campaign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20 identified accounts that mentioned CAFU, 16 of them negatively.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Warmest segment in the book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03</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42126"/>
                          </a:solidFill>
                          <a:latin typeface="Inter" pitchFamily="34" charset="0"/>
                          <a:ea typeface="Inter" pitchFamily="34" charset="-122"/>
                          <a:cs typeface="Inter" pitchFamily="34" charset="-120"/>
                        </a:rPr>
                        <a:t>Escalate the top 10 Cold accounts by volume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Cold holds 60% of measured litres, excluding one outlier. Give them an account manager.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The litres are here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04</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42126"/>
                          </a:solidFill>
                          <a:latin typeface="Inter" pitchFamily="34" charset="0"/>
                          <a:ea typeface="Inter" pitchFamily="34" charset="-122"/>
                          <a:cs typeface="Inter" pitchFamily="34" charset="-120"/>
                        </a:rPr>
                        <a:t>Sell downtime recovery, not cheaper fuel</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28 companies drive vehicles to a station. Price is regulated; time is not.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Reframes the pitch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04672">
                <a:tc>
                  <a:txBody>
                    <a:bodyPr/>
                    <a:lstStyle/>
                    <a:p>
                      <a:pPr algn="ctr" indent="0" marL="0">
                        <a:buNone/>
                      </a:pPr>
                      <a:r>
                        <a:rPr lang="en-US" sz="1500" b="1" dirty="0">
                          <a:solidFill>
                            <a:srgbClr val="C91E2C"/>
                          </a:solidFill>
                          <a:latin typeface="Inter" pitchFamily="34" charset="0"/>
                          <a:ea typeface="Inter" pitchFamily="34" charset="-122"/>
                          <a:cs typeface="Inter" pitchFamily="34" charset="-120"/>
                        </a:rPr>
                        <a:t>05</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42126"/>
                          </a:solidFill>
                          <a:latin typeface="Inter" pitchFamily="34" charset="0"/>
                          <a:ea typeface="Inter" pitchFamily="34" charset="-122"/>
                          <a:cs typeface="Inter" pitchFamily="34" charset="-120"/>
                        </a:rPr>
                        <a:t>Buy free-zone access, then work Jebel Ali</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90 companies blocked. 47 sit inside free zones. One administrative fix.</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90 companies unlocked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MANDATORY SECTION</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3000" b="1" dirty="0">
                <a:solidFill>
                  <a:srgbClr val="242126"/>
                </a:solidFill>
                <a:latin typeface="Archivo" pitchFamily="34" charset="0"/>
                <a:ea typeface="Archivo" pitchFamily="34" charset="-122"/>
                <a:cs typeface="Archivo" pitchFamily="34" charset="-120"/>
              </a:rPr>
              <a:t>Ready to implement, and what it is worth.</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5855" cy="914400"/>
        </p:xfrm>
        <a:graphic>
          <a:graphicData uri="http://schemas.openxmlformats.org/drawingml/2006/table">
            <a:tbl>
              <a:tblPr/>
              <a:tblGrid>
                <a:gridCol w="3383280"/>
                <a:gridCol w="3931920"/>
                <a:gridCol w="3867912"/>
              </a:tblGrid>
              <a:tr h="585216">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Ready to implement this week</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What it uses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Expected business impact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585216">
                <a:tc>
                  <a:txBody>
                    <a:bodyPr/>
                    <a:lstStyle/>
                    <a:p>
                      <a:pPr indent="0" marL="0">
                        <a:buNone/>
                      </a:pPr>
                      <a:r>
                        <a:rPr lang="en-US" sz="1100" b="1" dirty="0">
                          <a:solidFill>
                            <a:srgbClr val="242126"/>
                          </a:solidFill>
                          <a:latin typeface="Inter" pitchFamily="34" charset="0"/>
                          <a:ea typeface="Inter" pitchFamily="34" charset="-122"/>
                          <a:cs typeface="Inter" pitchFamily="34" charset="-120"/>
                        </a:rPr>
                        <a:t>Quote pack for the 23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Contacts and suppliers already on file.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23 open requests converted into live conversations.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85216">
                <a:tc>
                  <a:txBody>
                    <a:bodyPr/>
                    <a:lstStyle/>
                    <a:p>
                      <a:pPr indent="0" marL="0">
                        <a:buNone/>
                      </a:pPr>
                      <a:r>
                        <a:rPr lang="en-US" sz="1100" b="1" dirty="0">
                          <a:solidFill>
                            <a:srgbClr val="242126"/>
                          </a:solidFill>
                          <a:latin typeface="Inter" pitchFamily="34" charset="0"/>
                          <a:ea typeface="Inter" pitchFamily="34" charset="-122"/>
                          <a:cs typeface="Inter" pitchFamily="34" charset="-120"/>
                        </a:rPr>
                        <a:t>CAFU switch offer for 20 accounts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One page: same fuel, on site, invoice before dispatch.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20 accounts available without a price fight.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85216">
                <a:tc>
                  <a:txBody>
                    <a:bodyPr/>
                    <a:lstStyle/>
                    <a:p>
                      <a:pPr indent="0" marL="0">
                        <a:buNone/>
                      </a:pPr>
                      <a:r>
                        <a:rPr lang="en-US" sz="1100" b="1" dirty="0">
                          <a:solidFill>
                            <a:srgbClr val="242126"/>
                          </a:solidFill>
                          <a:latin typeface="Inter" pitchFamily="34" charset="0"/>
                          <a:ea typeface="Inter" pitchFamily="34" charset="-122"/>
                          <a:cs typeface="Inter" pitchFamily="34" charset="-120"/>
                        </a:rPr>
                        <a:t>Forklift and generator refuelling offer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A need no station network can serve.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A proposition competitors structurally cannot copy.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85216">
                <a:tc>
                  <a:txBody>
                    <a:bodyPr/>
                    <a:lstStyle/>
                    <a:p>
                      <a:pPr indent="0" marL="0">
                        <a:buNone/>
                      </a:pPr>
                      <a:r>
                        <a:rPr lang="en-US" sz="1100" b="1" dirty="0">
                          <a:solidFill>
                            <a:srgbClr val="242126"/>
                          </a:solidFill>
                          <a:latin typeface="Inter" pitchFamily="34" charset="0"/>
                          <a:ea typeface="Inter" pitchFamily="34" charset="-122"/>
                          <a:cs typeface="Inter" pitchFamily="34" charset="-120"/>
                        </a:rPr>
                        <a:t>Free-zone access applications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JAFZA, Hamriyah and Dubai Industrial City.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90 blocked companies unlocked by admin, not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85216">
                <a:tc>
                  <a:txBody>
                    <a:bodyPr/>
                    <a:lstStyle/>
                    <a:p>
                      <a:pPr indent="0" marL="0">
                        <a:buNone/>
                      </a:pPr>
                      <a:r>
                        <a:rPr lang="en-US" sz="1100" b="1" dirty="0">
                          <a:solidFill>
                            <a:srgbClr val="242126"/>
                          </a:solidFill>
                          <a:latin typeface="Inter" pitchFamily="34" charset="0"/>
                          <a:ea typeface="Inter" pitchFamily="34" charset="-122"/>
                          <a:cs typeface="Inter" pitchFamily="34" charset="-120"/>
                        </a:rPr>
                        <a:t>Split the Red bucket in two</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No diesel demand versus bad address.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117 closed records recoverable by verifying the address.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85216">
                <a:tc>
                  <a:txBody>
                    <a:bodyPr/>
                    <a:lstStyle/>
                    <a:p>
                      <a:pPr indent="0" marL="0">
                        <a:buNone/>
                      </a:pPr>
                      <a:r>
                        <a:rPr lang="en-US" sz="1100" b="1" dirty="0">
                          <a:solidFill>
                            <a:srgbClr val="242126"/>
                          </a:solidFill>
                          <a:latin typeface="Inter" pitchFamily="34" charset="0"/>
                          <a:ea typeface="Inter" pitchFamily="34" charset="-122"/>
                          <a:cs typeface="Inter" pitchFamily="34" charset="-120"/>
                        </a:rPr>
                        <a:t>Account-manage the top 10 Cold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Ranked by measured monthly litres.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b="1" dirty="0">
                          <a:solidFill>
                            <a:srgbClr val="2E7D4F"/>
                          </a:solidFill>
                          <a:latin typeface="Inter" pitchFamily="34" charset="0"/>
                          <a:ea typeface="Inter" pitchFamily="34" charset="-122"/>
                          <a:cs typeface="Inter" pitchFamily="34" charset="-120"/>
                        </a:rPr>
                        <a:t>Re-prioritises 60% of measured volume.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6" name="Shape 3"/>
          <p:cNvSpPr/>
          <p:nvPr/>
        </p:nvSpPr>
        <p:spPr>
          <a:xfrm>
            <a:off x="502920" y="6144768"/>
            <a:ext cx="11185855" cy="475488"/>
          </a:xfrm>
          <a:prstGeom prst="rect">
            <a:avLst/>
          </a:prstGeom>
          <a:solidFill>
            <a:srgbClr val="FCF3F4"/>
          </a:solidFill>
          <a:ln/>
        </p:spPr>
      </p:sp>
      <p:sp>
        <p:nvSpPr>
          <p:cNvPr id="7" name="Shape 4"/>
          <p:cNvSpPr/>
          <p:nvPr/>
        </p:nvSpPr>
        <p:spPr>
          <a:xfrm>
            <a:off x="502920" y="6144768"/>
            <a:ext cx="50292" cy="475488"/>
          </a:xfrm>
          <a:prstGeom prst="rect">
            <a:avLst/>
          </a:prstGeom>
          <a:solidFill>
            <a:srgbClr val="2E7D4F"/>
          </a:solidFill>
          <a:ln/>
        </p:spPr>
      </p:sp>
      <p:sp>
        <p:nvSpPr>
          <p:cNvPr id="8" name="Text 5"/>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None of this needs new headcount. Every item uses data already collected and handed over.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MANDATORY SECTION</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The three-month action plan, and months four to six.</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Built for the commercial team, not the research team. Every action traces back to a finding.</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600200"/>
                <a:gridCol w="2743200"/>
                <a:gridCol w="5468112"/>
                <a:gridCol w="1371600"/>
              </a:tblGrid>
              <a:tr h="82296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Window</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Theme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Actions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Owner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822960">
                <a:tc>
                  <a:txBody>
                    <a:bodyPr/>
                    <a:lstStyle/>
                    <a:p>
                      <a:pPr indent="0" marL="0">
                        <a:buNone/>
                      </a:pPr>
                      <a:r>
                        <a:rPr lang="en-US" sz="1050" b="1" dirty="0">
                          <a:solidFill>
                            <a:srgbClr val="2E7D4F"/>
                          </a:solidFill>
                          <a:latin typeface="Inter" pitchFamily="34" charset="0"/>
                          <a:ea typeface="Inter" pitchFamily="34" charset="-122"/>
                          <a:cs typeface="Inter" pitchFamily="34" charset="-120"/>
                        </a:rPr>
                        <a:t>Days 1 to 30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Convert what is already asking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Send quotations to the 23 Hot leads. Launch the CAFU switch campaign across 20 accounts. Publish LinkedIn Weeks 1 and 2, creative is designed and ready.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Sales + Marketing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r h="822960">
                <a:tc>
                  <a:txBody>
                    <a:bodyPr/>
                    <a:lstStyle/>
                    <a:p>
                      <a:pPr indent="0" marL="0">
                        <a:buNone/>
                      </a:pPr>
                      <a:r>
                        <a:rPr lang="en-US" sz="1050" b="1" dirty="0">
                          <a:solidFill>
                            <a:srgbClr val="41616F"/>
                          </a:solidFill>
                          <a:latin typeface="Inter" pitchFamily="34" charset="0"/>
                          <a:ea typeface="Inter" pitchFamily="34" charset="-122"/>
                          <a:cs typeface="Inter" pitchFamily="34" charset="-120"/>
                        </a:rPr>
                        <a:t>Days 31 to 60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Go where the litres are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Account-manage the top 10 Cold accounts, which hold 60% of measured volume. Sweep Sharjah Industrial and Al Sajaa, 64 companies. Secure free-zone access for 90 blocked companies.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Sales + Operations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22960">
                <a:tc>
                  <a:txBody>
                    <a:bodyPr/>
                    <a:lstStyle/>
                    <a:p>
                      <a:pPr indent="0" marL="0">
                        <a:buNone/>
                      </a:pPr>
                      <a:r>
                        <a:rPr lang="en-US" sz="1050" b="1" dirty="0">
                          <a:solidFill>
                            <a:srgbClr val="B8891F"/>
                          </a:solidFill>
                          <a:latin typeface="Inter" pitchFamily="34" charset="0"/>
                          <a:ea typeface="Inter" pitchFamily="34" charset="-122"/>
                          <a:cs typeface="Inter" pitchFamily="34" charset="-120"/>
                        </a:rPr>
                        <a:t>Days 61 to 90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Build the repeatable engine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Launch the forklift and generator offer. Publish the UAE diesel procurement report to generate inbound. Move 568 records into a CRM with outcome tracking so conversion becomes measurable.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Marketing + Data</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822960">
                <a:tc>
                  <a:txBody>
                    <a:bodyPr/>
                    <a:lstStyle/>
                    <a:p>
                      <a:pPr indent="0" marL="0">
                        <a:buNone/>
                      </a:pPr>
                      <a:r>
                        <a:rPr lang="en-US" sz="1050" b="1" dirty="0">
                          <a:solidFill>
                            <a:srgbClr val="3D4650"/>
                          </a:solidFill>
                          <a:latin typeface="Inter" pitchFamily="34" charset="0"/>
                          <a:ea typeface="Inter" pitchFamily="34" charset="-122"/>
                          <a:cs typeface="Inter" pitchFamily="34" charset="-120"/>
                        </a:rPr>
                        <a:t>Months 4 to 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050" b="1" dirty="0">
                          <a:solidFill>
                            <a:srgbClr val="242126"/>
                          </a:solidFill>
                          <a:latin typeface="Inter" pitchFamily="34" charset="0"/>
                          <a:ea typeface="Inter" pitchFamily="34" charset="-122"/>
                          <a:cs typeface="Inter" pitchFamily="34" charset="-120"/>
                        </a:rPr>
                        <a:t>Scale what worked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Track quote-to-order conversion by territory and sector. Re-run field research in Hamriyah and Umm Al Quwain. Target 1,000+ LinkedIn followers from about 350 today.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indent="0" marL="0">
                        <a:buNone/>
                      </a:pPr>
                      <a:r>
                        <a:rPr lang="en-US" sz="1050" dirty="0">
                          <a:solidFill>
                            <a:srgbClr val="242126"/>
                          </a:solidFill>
                          <a:latin typeface="Inter" pitchFamily="34" charset="0"/>
                          <a:ea typeface="Inter" pitchFamily="34" charset="-122"/>
                          <a:cs typeface="Inter" pitchFamily="34" charset="-120"/>
                        </a:rPr>
                        <a:t>Leadership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157 confirmed diesel users, 23 Hot leads asking for a quote, 20 leaving a competitor. The demand is identified and named.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SOCIAL MEDIA AND CONTENT WORK</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A four-week LinkedIn plan, written post by post.</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indent="0" marL="0">
              <a:lnSpc>
                <a:spcPts val="1800"/>
              </a:lnSpc>
              <a:buNone/>
            </a:pPr>
            <a:r>
              <a:rPr lang="en-US" sz="1250" dirty="0">
                <a:solidFill>
                  <a:srgbClr val="3D4650"/>
                </a:solidFill>
                <a:latin typeface="Inter" pitchFamily="34" charset="0"/>
                <a:ea typeface="Inter" pitchFamily="34" charset="-122"/>
                <a:cs typeface="Inter" pitchFamily="34" charset="-120"/>
              </a:rPr>
              <a:t>28 posts, all 10 content pillars, 13 formats. Week 1 creative is designed and ready. Built on this field research.</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5855" cy="914400"/>
        </p:xfrm>
        <a:graphic>
          <a:graphicData uri="http://schemas.openxmlformats.org/drawingml/2006/table">
            <a:tbl>
              <a:tblPr/>
              <a:tblGrid>
                <a:gridCol w="1097280"/>
                <a:gridCol w="2286000"/>
                <a:gridCol w="5971032"/>
                <a:gridCol w="1828800"/>
              </a:tblGrid>
              <a:tr h="73152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Week</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Objective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Posts written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ctr" indent="0" marL="0">
                        <a:buNone/>
                      </a:pPr>
                      <a:r>
                        <a:rPr lang="en-US" sz="950" b="1" spc="100" kern="0" dirty="0">
                          <a:solidFill>
                            <a:srgbClr val="FFFFFF"/>
                          </a:solidFill>
                          <a:latin typeface="Inter" pitchFamily="34" charset="0"/>
                          <a:ea typeface="Inter" pitchFamily="34" charset="-122"/>
                          <a:cs typeface="Inter" pitchFamily="34" charset="-120"/>
                        </a:rPr>
                        <a:t>Status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731520">
                <a:tc>
                  <a:txBody>
                    <a:bodyPr/>
                    <a:lstStyle/>
                    <a:p>
                      <a:pPr indent="0" marL="0">
                        <a:buNone/>
                      </a:pPr>
                      <a:r>
                        <a:rPr lang="en-US" sz="1000" b="1" dirty="0">
                          <a:solidFill>
                            <a:srgbClr val="C91E2C"/>
                          </a:solidFill>
                          <a:latin typeface="Inter" pitchFamily="34" charset="0"/>
                          <a:ea typeface="Inter" pitchFamily="34" charset="-122"/>
                          <a:cs typeface="Inter" pitchFamily="34" charset="-120"/>
                        </a:rPr>
                        <a:t>Week 1</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42126"/>
                          </a:solidFill>
                          <a:latin typeface="Inter" pitchFamily="34" charset="0"/>
                          <a:ea typeface="Inter" pitchFamily="34" charset="-122"/>
                          <a:cs typeface="Inter" pitchFamily="34" charset="-120"/>
                        </a:rPr>
                        <a:t>Frame the problem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Poll on the biggest refuelling bottleneck. Carousel on dead mileage and idle wages. Generator damage post. White paper launch with a comment-gated CTA.</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00" b="1" dirty="0">
                          <a:solidFill>
                            <a:srgbClr val="2E7D4F"/>
                          </a:solidFill>
                          <a:latin typeface="Inter" pitchFamily="34" charset="0"/>
                          <a:ea typeface="Inter" pitchFamily="34" charset="-122"/>
                          <a:cs typeface="Inter" pitchFamily="34" charset="-120"/>
                        </a:rPr>
                        <a:t>Creative complete,</a:t>
                      </a:r>
                      <a:endParaRPr lang="en-US" sz="1000" dirty="0">
                        <a:latin typeface="Inter" charset="0"/>
                        <a:ea typeface="Inter" charset="0"/>
                        <a:cs typeface="Inter" charset="0"/>
                      </a:endParaRPr>
                    </a:p>
                    <a:p>
                      <a:pPr algn="ctr" indent="0" marL="0">
                        <a:buNone/>
                      </a:pPr>
                      <a:r>
                        <a:rPr lang="en-US" sz="1000" b="1" dirty="0">
                          <a:solidFill>
                            <a:srgbClr val="2E7D4F"/>
                          </a:solidFill>
                          <a:latin typeface="Inter" pitchFamily="34" charset="0"/>
                          <a:ea typeface="Inter" pitchFamily="34" charset="-122"/>
                          <a:cs typeface="Inter" pitchFamily="34" charset="-120"/>
                        </a:rPr>
                        <a:t>10 images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31520">
                <a:tc>
                  <a:txBody>
                    <a:bodyPr/>
                    <a:lstStyle/>
                    <a:p>
                      <a:pPr indent="0" marL="0">
                        <a:buNone/>
                      </a:pPr>
                      <a:r>
                        <a:rPr lang="en-US" sz="1000" b="1" dirty="0">
                          <a:solidFill>
                            <a:srgbClr val="C91E2C"/>
                          </a:solidFill>
                          <a:latin typeface="Inter" pitchFamily="34" charset="0"/>
                          <a:ea typeface="Inter" pitchFamily="34" charset="-122"/>
                          <a:cs typeface="Inter" pitchFamily="34" charset="-120"/>
                        </a:rPr>
                        <a:t>Week 2</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42126"/>
                          </a:solidFill>
                          <a:latin typeface="Inter" pitchFamily="34" charset="0"/>
                          <a:ea typeface="Inter" pitchFamily="34" charset="-122"/>
                          <a:cs typeface="Inter" pitchFamily="34" charset="-120"/>
                        </a:rPr>
                        <a:t>Prove the difference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10ppm against standard fuel in a Euro 5/6 engine. Night refuelling carousel. Fuel as a service. The drivers behind the deliveries.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00" b="1" dirty="0">
                          <a:solidFill>
                            <a:srgbClr val="2E7D4F"/>
                          </a:solidFill>
                          <a:latin typeface="Inter" pitchFamily="34" charset="0"/>
                          <a:ea typeface="Inter" pitchFamily="34" charset="-122"/>
                          <a:cs typeface="Inter" pitchFamily="34" charset="-120"/>
                        </a:rPr>
                        <a:t>Full copy written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31520">
                <a:tc>
                  <a:txBody>
                    <a:bodyPr/>
                    <a:lstStyle/>
                    <a:p>
                      <a:pPr indent="0" marL="0">
                        <a:buNone/>
                      </a:pPr>
                      <a:r>
                        <a:rPr lang="en-US" sz="1000" b="1" dirty="0">
                          <a:solidFill>
                            <a:srgbClr val="C91E2C"/>
                          </a:solidFill>
                          <a:latin typeface="Inter" pitchFamily="34" charset="0"/>
                          <a:ea typeface="Inter" pitchFamily="34" charset="-122"/>
                          <a:cs typeface="Inter" pitchFamily="34" charset="-120"/>
                        </a:rPr>
                        <a:t>Week 3</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42126"/>
                          </a:solidFill>
                          <a:latin typeface="Inter" pitchFamily="34" charset="0"/>
                          <a:ea typeface="Inter" pitchFamily="34" charset="-122"/>
                          <a:cs typeface="Inter" pitchFamily="34" charset="-120"/>
                        </a:rPr>
                        <a:t>Show the system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Free dead-mileage and ROI audit for 10 fleets. Paper logbooks post. The five-step delivery workflow. The eight-point continuity checklist.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00" b="1" dirty="0">
                          <a:solidFill>
                            <a:srgbClr val="2E7D4F"/>
                          </a:solidFill>
                          <a:latin typeface="Inter" pitchFamily="34" charset="0"/>
                          <a:ea typeface="Inter" pitchFamily="34" charset="-122"/>
                          <a:cs typeface="Inter" pitchFamily="34" charset="-120"/>
                        </a:rPr>
                        <a:t>Full copy written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731520">
                <a:tc>
                  <a:txBody>
                    <a:bodyPr/>
                    <a:lstStyle/>
                    <a:p>
                      <a:pPr indent="0" marL="0">
                        <a:buNone/>
                      </a:pPr>
                      <a:r>
                        <a:rPr lang="en-US" sz="1000" b="1" dirty="0">
                          <a:solidFill>
                            <a:srgbClr val="C91E2C"/>
                          </a:solidFill>
                          <a:latin typeface="Inter" pitchFamily="34" charset="0"/>
                          <a:ea typeface="Inter" pitchFamily="34" charset="-122"/>
                          <a:cs typeface="Inter" pitchFamily="34" charset="-120"/>
                        </a:rPr>
                        <a:t>Week 4</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b="1" dirty="0">
                          <a:solidFill>
                            <a:srgbClr val="242126"/>
                          </a:solidFill>
                          <a:latin typeface="Inter" pitchFamily="34" charset="0"/>
                          <a:ea typeface="Inter" pitchFamily="34" charset="-122"/>
                          <a:cs typeface="Inter" pitchFamily="34" charset="-120"/>
                        </a:rPr>
                        <a:t>Convert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Resilience by design. 100 litres to 5 million. Emergency top-ups. The dispatch team. One month on from the white paper.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algn="ctr" indent="0" marL="0">
                        <a:buNone/>
                      </a:pPr>
                      <a:r>
                        <a:rPr lang="en-US" sz="1000" b="1" dirty="0">
                          <a:solidFill>
                            <a:srgbClr val="2E7D4F"/>
                          </a:solidFill>
                          <a:latin typeface="Inter" pitchFamily="34" charset="0"/>
                          <a:ea typeface="Inter" pitchFamily="34" charset="-122"/>
                          <a:cs typeface="Inter" pitchFamily="34" charset="-120"/>
                        </a:rPr>
                        <a:t>Full copy written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7" name="Text 4"/>
          <p:cNvSpPr txBox="1"/>
          <p:nvPr/>
        </p:nvSpPr>
        <p:spPr>
          <a:xfrm>
            <a:off x="502920" y="5806440"/>
            <a:ext cx="11185855" cy="502920"/>
          </a:xfrm>
          <a:prstGeom prst="rect">
            <a:avLst/>
          </a:prstGeom>
          <a:noFill/>
          <a:ln/>
        </p:spPr>
        <p:txBody>
          <a:bodyPr wrap="square" lIns="0" tIns="0" rIns="0" bIns="0" rtlCol="0" anchor="ctr"/>
          <a:lstStyle/>
          <a:p>
            <a:pPr indent="0" marL="0">
              <a:lnSpc>
                <a:spcPts val="1600"/>
              </a:lnSpc>
              <a:buNone/>
            </a:pPr>
            <a:r>
              <a:rPr lang="en-US" sz="1050" dirty="0">
                <a:solidFill>
                  <a:srgbClr val="3D4650"/>
                </a:solidFill>
                <a:latin typeface="Inter" pitchFamily="34" charset="0"/>
                <a:ea typeface="Inter" pitchFamily="34" charset="-122"/>
                <a:cs typeface="Inter" pitchFamily="34" charset="-120"/>
              </a:rPr>
              <a:t>Engagement rules that shaped it:   links go in the first comment, never the post body   ·   comment-gated CTAs beat link clicks   ·   thought leadership publishes from the founder profile   ·   LinkedIn does not expose poll voters, so follow up with commenters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INTERNSHIP JOURNEY</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Tasks, challenges, and the tools we used.</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657600" cy="914400"/>
        </p:xfrm>
        <a:graphic>
          <a:graphicData uri="http://schemas.openxmlformats.org/drawingml/2006/table">
            <a:tbl>
              <a:tblPr/>
              <a:tblGrid>
                <a:gridCol w="3657600"/>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Tasks assigned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Visit businesses across Dubai, Sharjah, Ajman and UAQ</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Identify diesel users and their current supplier</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Record volume, fleet, pain points, decision maker</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Introduce FILLIT and distribute flyers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Log and classify every visit in the weekly workbook</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Generate new leads beyond the supplied list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315968" y="1645920"/>
          <a:ext cx="4663440" cy="914400"/>
        </p:xfrm>
        <a:graphic>
          <a:graphicData uri="http://schemas.openxmlformats.org/drawingml/2006/table">
            <a:tbl>
              <a:tblPr/>
              <a:tblGrid>
                <a:gridCol w="1920240"/>
                <a:gridCol w="2743200"/>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Challenge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How we addressed it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000" b="1" dirty="0">
                          <a:solidFill>
                            <a:srgbClr val="242126"/>
                          </a:solidFill>
                          <a:latin typeface="Inter" pitchFamily="34" charset="0"/>
                          <a:ea typeface="Inter" pitchFamily="34" charset="-122"/>
                          <a:cs typeface="Inter" pitchFamily="34" charset="-120"/>
                        </a:rPr>
                        <a:t>59.5% dead ends in Week 1</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Stopped relying on the list and generated our own leads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b="1" dirty="0">
                          <a:solidFill>
                            <a:srgbClr val="242126"/>
                          </a:solidFill>
                          <a:latin typeface="Inter" pitchFamily="34" charset="0"/>
                          <a:ea typeface="Inter" pitchFamily="34" charset="-122"/>
                          <a:cs typeface="Inter" pitchFamily="34" charset="-120"/>
                        </a:rPr>
                        <a:t>Wrong or outdated addresses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Recorded the reason, so 117 are recoverable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b="1" dirty="0">
                          <a:solidFill>
                            <a:srgbClr val="242126"/>
                          </a:solidFill>
                          <a:latin typeface="Inter" pitchFamily="34" charset="0"/>
                          <a:ea typeface="Inter" pitchFamily="34" charset="-122"/>
                          <a:cs typeface="Inter" pitchFamily="34" charset="-120"/>
                        </a:rPr>
                        <a:t>Free zones and gate passes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Logged 90 as blocked, not disqualified</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b="1" dirty="0">
                          <a:solidFill>
                            <a:srgbClr val="242126"/>
                          </a:solidFill>
                          <a:latin typeface="Inter" pitchFamily="34" charset="0"/>
                          <a:ea typeface="Inter" pitchFamily="34" charset="-122"/>
                          <a:cs typeface="Inter" pitchFamily="34" charset="-120"/>
                        </a:rPr>
                        <a:t>Reception gatekeepers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Asked specifically for the fuel buyer by role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b="1" dirty="0">
                          <a:solidFill>
                            <a:srgbClr val="242126"/>
                          </a:solidFill>
                          <a:latin typeface="Inter" pitchFamily="34" charset="0"/>
                          <a:ea typeface="Inter" pitchFamily="34" charset="-122"/>
                          <a:cs typeface="Inter" pitchFamily="34" charset="-120"/>
                        </a:rPr>
                        <a:t>Inconsistent consumption units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Converted litres, gallons and AED to one measure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00" b="1" dirty="0">
                          <a:solidFill>
                            <a:srgbClr val="242126"/>
                          </a:solidFill>
                          <a:latin typeface="Inter" pitchFamily="34" charset="0"/>
                          <a:ea typeface="Inter" pitchFamily="34" charset="-122"/>
                          <a:cs typeface="Inter" pitchFamily="34" charset="-120"/>
                        </a:rPr>
                        <a:t>Colour and written status differed</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000" dirty="0">
                          <a:solidFill>
                            <a:srgbClr val="242126"/>
                          </a:solidFill>
                          <a:latin typeface="Inter" pitchFamily="34" charset="0"/>
                          <a:ea typeface="Inter" pitchFamily="34" charset="-122"/>
                          <a:cs typeface="Inter" pitchFamily="34" charset="-120"/>
                        </a:rPr>
                        <a:t>Used the written interest level for 26 records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graphicFrame>
        <p:nvGraphicFramePr>
          <p:cNvPr id="73" name="Table 2"/>
          <p:cNvGraphicFramePr>
            <a:graphicFrameLocks noGrp="1"/>
          </p:cNvGraphicFramePr>
          <p:nvPr>
            <p:extLst>
              <p:ext uri="{D42A27DB-BD31-4B8C-83A1-F6EECF244321}">
                <p14:modId xmlns:p14="http://schemas.microsoft.com/office/powerpoint/2010/main" val="1579011935"/>
              </p:ext>
            </p:extLst>
          </p:nvPr>
        </p:nvGraphicFramePr>
        <p:xfrm>
          <a:off x="9162288" y="1645920"/>
          <a:ext cx="2523744" cy="914400"/>
        </p:xfrm>
        <a:graphic>
          <a:graphicData uri="http://schemas.openxmlformats.org/drawingml/2006/table">
            <a:tbl>
              <a:tblPr/>
              <a:tblGrid>
                <a:gridCol w="2523744"/>
              </a:tblGrid>
              <a:tr h="457200">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Tools and platforms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Microsoft Excel</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Python and pandas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Google Maps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LinkedIn</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WhatsApp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457200">
                <a:tc>
                  <a:txBody>
                    <a:bodyPr/>
                    <a:lstStyle/>
                    <a:p>
                      <a:pPr indent="0" marL="0">
                        <a:buNone/>
                      </a:pPr>
                      <a:r>
                        <a:rPr lang="en-US" sz="1050" dirty="0">
                          <a:solidFill>
                            <a:srgbClr val="242126"/>
                          </a:solidFill>
                          <a:latin typeface="Inter" pitchFamily="34" charset="0"/>
                          <a:ea typeface="Inter" pitchFamily="34" charset="-122"/>
                          <a:cs typeface="Inter" pitchFamily="34" charset="-120"/>
                        </a:rPr>
                        <a:t>PowerPoint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
        <p:nvSpPr>
          <p:cNvPr id="8" name="Shape 3"/>
          <p:cNvSpPr/>
          <p:nvPr/>
        </p:nvSpPr>
        <p:spPr>
          <a:xfrm>
            <a:off x="502920" y="6144768"/>
            <a:ext cx="11185855" cy="475488"/>
          </a:xfrm>
          <a:prstGeom prst="rect">
            <a:avLst/>
          </a:prstGeom>
          <a:solidFill>
            <a:srgbClr val="FCF3F4"/>
          </a:solidFill>
          <a:ln/>
        </p:spPr>
      </p:sp>
      <p:sp>
        <p:nvSpPr>
          <p:cNvPr id="9" name="Shape 4"/>
          <p:cNvSpPr/>
          <p:nvPr/>
        </p:nvSpPr>
        <p:spPr>
          <a:xfrm>
            <a:off x="502920" y="6144768"/>
            <a:ext cx="50292" cy="475488"/>
          </a:xfrm>
          <a:prstGeom prst="rect">
            <a:avLst/>
          </a:prstGeom>
          <a:solidFill>
            <a:srgbClr val="2E7D4F"/>
          </a:solidFill>
          <a:ln/>
        </p:spPr>
      </p:sp>
      <p:sp>
        <p:nvSpPr>
          <p:cNvPr id="10" name="Text 5"/>
          <p:cNvSpPr txBox="1"/>
          <p:nvPr/>
        </p:nvSpPr>
        <p:spPr>
          <a:xfrm>
            <a:off x="685800" y="6144768"/>
            <a:ext cx="10865815" cy="475488"/>
          </a:xfrm>
          <a:prstGeom prst="rect">
            <a:avLst/>
          </a:prstGeom>
          <a:noFill/>
          <a:ln/>
        </p:spPr>
        <p:txBody>
          <a:bodyPr wrap="square" lIns="0" tIns="0" rIns="0" bIns="0" rtlCol="0" anchor="ctr"/>
          <a:lstStyle/>
          <a:p>
            <a:pPr indent="0" marL="0">
              <a:buNone/>
            </a:pPr>
            <a:r>
              <a:rPr lang="en-US" sz="1200" b="1" dirty="0">
                <a:solidFill>
                  <a:srgbClr val="242126"/>
                </a:solidFill>
                <a:latin typeface="Inter" pitchFamily="34" charset="0"/>
                <a:ea typeface="Inter" pitchFamily="34" charset="-122"/>
                <a:cs typeface="Inter" pitchFamily="34" charset="-120"/>
              </a:rPr>
              <a:t>Each challenge became a finding. The Week 1 dead-end rate is what produced the 72 self-generated leads.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MANDATORY SECTION</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600" b="1" dirty="0">
                <a:solidFill>
                  <a:srgbClr val="242126"/>
                </a:solidFill>
                <a:latin typeface="Archivo" pitchFamily="34" charset="0"/>
                <a:ea typeface="Archivo" pitchFamily="34" charset="-122"/>
                <a:cs typeface="Archivo" pitchFamily="34" charset="-120"/>
              </a:rPr>
              <a:t>My contribution, what I learned, and what I am handing over.</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5532120" cy="914400"/>
        </p:xfrm>
        <a:graphic>
          <a:graphicData uri="http://schemas.openxmlformats.org/drawingml/2006/table">
            <a:tbl>
              <a:tblPr/>
              <a:tblGrid>
                <a:gridCol w="5532120"/>
              </a:tblGrid>
              <a:tr h="38404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My individual contribution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Field visits and decision-maker interviews across Dubai, Sharjah, Ajman and Umm Al Quwain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Designed the 23-field capture schema and the colour-coded status system used by the whole team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Built and maintained the consolidated database, including de-duplication and weekly consolidation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Ran the full analysis: funnel, area, industry, supplier, pain-point and lead-source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Authored the LinkedIn content and engagement strategy and the 2026 white paper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Built the interactive lead dashboard handed over with this presentation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b="1" dirty="0">
                          <a:solidFill>
                            <a:srgbClr val="242126"/>
                          </a:solidFill>
                          <a:latin typeface="Inter" pitchFamily="34" charset="0"/>
                          <a:ea typeface="Inter" pitchFamily="34" charset="-122"/>
                          <a:cs typeface="Inter" pitchFamily="34" charset="-120"/>
                        </a:rPr>
                        <a:t>Team: Mudar, Gautham, Parasharan and Divesh shared field visits, client conversations, flyers and data logging equally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153912" y="1627632"/>
          <a:ext cx="5532120" cy="914400"/>
        </p:xfrm>
        <a:graphic>
          <a:graphicData uri="http://schemas.openxmlformats.org/drawingml/2006/table">
            <a:tbl>
              <a:tblPr/>
              <a:tblGrid>
                <a:gridCol w="5532120"/>
              </a:tblGrid>
              <a:tr h="384048">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Files and assets handed over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Master company database. 568 companies, latest status, fully classified</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Hot, Warm and Cold lead files. Separate Excel workbooks with contacts and volumes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Self-generated leads file. The 72 companies we found ourselves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CAFU-affected accounts. 20 companies with their verbatim notes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Interactive dashboard. Filterable, with drill-down to any single company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84048">
                <a:tc>
                  <a:txBody>
                    <a:bodyPr/>
                    <a:lstStyle/>
                    <a:p>
                      <a:pPr indent="0" marL="0">
                        <a:buNone/>
                      </a:pPr>
                      <a:r>
                        <a:rPr lang="en-US" sz="1000" dirty="0">
                          <a:solidFill>
                            <a:srgbClr val="242126"/>
                          </a:solidFill>
                          <a:latin typeface="Inter" pitchFamily="34" charset="0"/>
                          <a:ea typeface="Inter" pitchFamily="34" charset="-122"/>
                          <a:cs typeface="Inter" pitchFamily="34" charset="-120"/>
                        </a:rPr>
                        <a:t>LinkedIn strategy and 2026 white paper. 4-week plan, 28 posts, Week 1 creative complete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graphicFrame>
        <p:nvGraphicFramePr>
          <p:cNvPr id="76" name="Table 2"/>
          <p:cNvGraphicFramePr>
            <a:graphicFrameLocks noGrp="1"/>
          </p:cNvGraphicFramePr>
          <p:nvPr>
            <p:extLst>
              <p:ext uri="{D42A27DB-BD31-4B8C-83A1-F6EECF244321}">
                <p14:modId xmlns:p14="http://schemas.microsoft.com/office/powerpoint/2010/main" val="1579011935"/>
              </p:ext>
            </p:extLst>
          </p:nvPr>
        </p:nvGraphicFramePr>
        <p:xfrm>
          <a:off x="502920" y="5212080"/>
          <a:ext cx="11183112" cy="914400"/>
        </p:xfrm>
        <a:graphic>
          <a:graphicData uri="http://schemas.openxmlformats.org/drawingml/2006/table">
            <a:tbl>
              <a:tblPr/>
              <a:tblGrid>
                <a:gridCol w="11183112"/>
              </a:tblGrid>
              <a:tr h="347472">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Key learnings from the internship</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347472">
                <a:tc>
                  <a:txBody>
                    <a:bodyPr/>
                    <a:lstStyle/>
                    <a:p>
                      <a:pPr indent="0" marL="0">
                        <a:buNone/>
                      </a:pPr>
                      <a:r>
                        <a:rPr lang="en-US" sz="1050" dirty="0">
                          <a:solidFill>
                            <a:srgbClr val="242126"/>
                          </a:solidFill>
                          <a:latin typeface="Inter" pitchFamily="34" charset="0"/>
                          <a:ea typeface="Inter" pitchFamily="34" charset="-122"/>
                          <a:cs typeface="Inter" pitchFamily="34" charset="-120"/>
                        </a:rPr>
                        <a:t>Lead scoring measures willingness to talk, not commercial value. The two ran in opposite directions here.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47472">
                <a:tc>
                  <a:txBody>
                    <a:bodyPr/>
                    <a:lstStyle/>
                    <a:p>
                      <a:pPr indent="0" marL="0">
                        <a:buNone/>
                      </a:pPr>
                      <a:r>
                        <a:rPr lang="en-US" sz="1050" dirty="0">
                          <a:solidFill>
                            <a:srgbClr val="242126"/>
                          </a:solidFill>
                          <a:latin typeface="Inter" pitchFamily="34" charset="0"/>
                          <a:ea typeface="Inter" pitchFamily="34" charset="-122"/>
                          <a:cs typeface="Inter" pitchFamily="34" charset="-120"/>
                        </a:rPr>
                        <a:t>Data quality is a commercial variable. 117 companies were lost to addresses, not to absent demand.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347472">
                <a:tc>
                  <a:txBody>
                    <a:bodyPr/>
                    <a:lstStyle/>
                    <a:p>
                      <a:pPr indent="0" marL="0">
                        <a:buNone/>
                      </a:pPr>
                      <a:r>
                        <a:rPr lang="en-US" sz="1050" dirty="0">
                          <a:solidFill>
                            <a:srgbClr val="242126"/>
                          </a:solidFill>
                          <a:latin typeface="Inter" pitchFamily="34" charset="0"/>
                          <a:ea typeface="Inter" pitchFamily="34" charset="-122"/>
                          <a:cs typeface="Inter" pitchFamily="34" charset="-120"/>
                        </a:rPr>
                        <a:t>The leads you find yourself beat any list you are handed, by 3.3 to 1 on green rate.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indent="0" marL="0">
              <a:buNone/>
            </a:pPr>
            <a:r>
              <a:rPr lang="en-US" sz="1000" b="1" spc="220" kern="0" dirty="0">
                <a:solidFill>
                  <a:srgbClr val="3D4650"/>
                </a:solidFill>
                <a:latin typeface="Inter" pitchFamily="34" charset="0"/>
                <a:ea typeface="Inter" pitchFamily="34" charset="-122"/>
                <a:cs typeface="Inter" pitchFamily="34" charset="-120"/>
              </a:rPr>
              <a:t>APPENDIX</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indent="0" marL="0">
              <a:buNone/>
            </a:pPr>
            <a:r>
              <a:rPr lang="en-US" sz="2700" b="1" dirty="0">
                <a:solidFill>
                  <a:srgbClr val="242126"/>
                </a:solidFill>
                <a:latin typeface="Archivo" pitchFamily="34" charset="0"/>
                <a:ea typeface="Archivo" pitchFamily="34" charset="-122"/>
                <a:cs typeface="Archivo" pitchFamily="34" charset="-120"/>
              </a:rPr>
              <a:t>Sources and references.</a:t>
            </a:r>
            <a:endParaRPr lang="en-US" sz="2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5855" cy="914400"/>
        </p:xfrm>
        <a:graphic>
          <a:graphicData uri="http://schemas.openxmlformats.org/drawingml/2006/table">
            <a:tbl>
              <a:tblPr/>
              <a:tblGrid>
                <a:gridCol w="5852160"/>
                <a:gridCol w="5330952"/>
              </a:tblGrid>
              <a:tr h="512064">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Source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algn="l" indent="0" marL="0">
                        <a:buNone/>
                      </a:pPr>
                      <a:r>
                        <a:rPr lang="en-US" sz="950" b="1" spc="100" kern="0" dirty="0">
                          <a:solidFill>
                            <a:srgbClr val="FFFFFF"/>
                          </a:solidFill>
                          <a:latin typeface="Inter" pitchFamily="34" charset="0"/>
                          <a:ea typeface="Inter" pitchFamily="34" charset="-122"/>
                          <a:cs typeface="Inter" pitchFamily="34" charset="-120"/>
                        </a:rPr>
                        <a:t>Used for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Combined_week1-week5.xlsx and Combined_week6.xlsx, 7 Aug to 17 Sep 2026 (main source)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Every count, rate, area, industry, supplier, volume and quotation in this deck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Vision Crafter Diesel Field Research Report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Analytical approach and qualitative framing only; figures re-verified against the main sheets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UAE Fuel Price Committee, via Gulf News and Khaleej Times, Sept 2026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Diesel retail price of AED 4.30 per litre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Gulf News, 24 April 2025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CAFU reinstating delivery fees of AED 12 to 20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The National, 23 January 2026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CAFU slot-availability and supply problems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FILLIT official flyer and fillit.co</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FILLIT service claims: 10ppm, 100 L to 5M L, 24/7, GPS tracking</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r h="512064">
                <a:tc>
                  <a:txBody>
                    <a:bodyPr/>
                    <a:lstStyle/>
                    <a:p>
                      <a:pPr indent="0" marL="0">
                        <a:buNone/>
                      </a:pPr>
                      <a:r>
                        <a:rPr lang="en-US" sz="1100" b="1" dirty="0">
                          <a:solidFill>
                            <a:srgbClr val="242126"/>
                          </a:solidFill>
                          <a:latin typeface="Inter" pitchFamily="34" charset="0"/>
                          <a:ea typeface="Inter" pitchFamily="34" charset="-122"/>
                          <a:cs typeface="Inter" pitchFamily="34" charset="-120"/>
                        </a:rPr>
                        <a:t>LinkedIn pages of DP World, ENOC, Transguard, G42, Masdar, Mubadala, Gartner and others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indent="0" marL="0">
                        <a:buNone/>
                      </a:pPr>
                      <a:r>
                        <a:rPr lang="en-US" sz="1100" dirty="0">
                          <a:solidFill>
                            <a:srgbClr val="242126"/>
                          </a:solidFill>
                          <a:latin typeface="Inter" pitchFamily="34" charset="0"/>
                          <a:ea typeface="Inter" pitchFamily="34" charset="-122"/>
                          <a:cs typeface="Inter" pitchFamily="34" charset="-120"/>
                        </a:rPr>
                        <a:t>B2B content benchmark behind the LinkedIn strategy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FILLIT Diesel Trading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FILLIT Market Research - Divesh Anand</dc:title>
  <dc:subject>PptxGenJS Presentation</dc:subject>
  <dc:creator>Divesh Anand</dc:creator>
  <cp:lastModifiedBy>Divesh Anand</cp:lastModifiedBy>
  <cp:revision>1</cp:revision>
  <dcterms:created xsi:type="dcterms:W3CDTF">2026-09-21T09:25:13Z</dcterms:created>
  <dcterms:modified xsi:type="dcterms:W3CDTF">2026-09-21T09:25:13Z</dcterms:modified>
</cp:coreProperties>
</file>